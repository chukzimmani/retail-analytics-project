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97"/>
    <p:restoredTop sz="94694"/>
  </p:normalViewPr>
  <p:slideViewPr>
    <p:cSldViewPr snapToGrid="0">
      <p:cViewPr varScale="1">
        <p:scale>
          <a:sx n="93" d="100"/>
          <a:sy n="93" d="100"/>
        </p:scale>
        <p:origin x="248" y="8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606519-A130-467C-B6F2-699BAF1B612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2ABAC15-2403-4F6D-9613-7E41D5635511}">
      <dgm:prSet/>
      <dgm:spPr/>
      <dgm:t>
        <a:bodyPr/>
        <a:lstStyle/>
        <a:p>
          <a:r>
            <a:rPr lang="en-NG"/>
            <a:t>In this analysis, key drivers of revenue was explored in different aspects of the business such as product price tiers, customer segments and categories.</a:t>
          </a:r>
          <a:endParaRPr lang="en-US"/>
        </a:p>
      </dgm:t>
    </dgm:pt>
    <dgm:pt modelId="{12BD282E-A60D-4933-AC49-3065CD19EE44}" type="parTrans" cxnId="{1CE7C0A5-90B2-4928-B8E8-A27DD688CB96}">
      <dgm:prSet/>
      <dgm:spPr/>
      <dgm:t>
        <a:bodyPr/>
        <a:lstStyle/>
        <a:p>
          <a:endParaRPr lang="en-US"/>
        </a:p>
      </dgm:t>
    </dgm:pt>
    <dgm:pt modelId="{9C1EB43F-79E1-47FA-B878-2EC05941577D}" type="sibTrans" cxnId="{1CE7C0A5-90B2-4928-B8E8-A27DD688CB96}">
      <dgm:prSet/>
      <dgm:spPr/>
      <dgm:t>
        <a:bodyPr/>
        <a:lstStyle/>
        <a:p>
          <a:endParaRPr lang="en-US"/>
        </a:p>
      </dgm:t>
    </dgm:pt>
    <dgm:pt modelId="{F73949DD-BE1F-4365-ABB6-E91BE017D6A2}">
      <dgm:prSet/>
      <dgm:spPr/>
      <dgm:t>
        <a:bodyPr/>
        <a:lstStyle/>
        <a:p>
          <a:r>
            <a:rPr lang="en-NG"/>
            <a:t>With the dataset which consist of 5000 transaction records, 257 products and the business operating in two major cities, the goal of this analysis is to discover the factors that drive revenue.</a:t>
          </a:r>
          <a:endParaRPr lang="en-US"/>
        </a:p>
      </dgm:t>
    </dgm:pt>
    <dgm:pt modelId="{F8721596-C74B-49AA-9960-C845D8B75C85}" type="parTrans" cxnId="{C72006F9-92D6-40CB-BA2A-01D807AEA2F3}">
      <dgm:prSet/>
      <dgm:spPr/>
      <dgm:t>
        <a:bodyPr/>
        <a:lstStyle/>
        <a:p>
          <a:endParaRPr lang="en-US"/>
        </a:p>
      </dgm:t>
    </dgm:pt>
    <dgm:pt modelId="{AFDE3FBE-9363-445A-AC94-F70C32D9A671}" type="sibTrans" cxnId="{C72006F9-92D6-40CB-BA2A-01D807AEA2F3}">
      <dgm:prSet/>
      <dgm:spPr/>
      <dgm:t>
        <a:bodyPr/>
        <a:lstStyle/>
        <a:p>
          <a:endParaRPr lang="en-US"/>
        </a:p>
      </dgm:t>
    </dgm:pt>
    <dgm:pt modelId="{27BDAF73-ADB4-4749-8397-A74EBCBADB73}">
      <dgm:prSet/>
      <dgm:spPr/>
      <dgm:t>
        <a:bodyPr/>
        <a:lstStyle/>
        <a:p>
          <a:r>
            <a:rPr lang="en-NG"/>
            <a:t>The Power BI dashboards provide insights such as products that drive revenue, customer behaviour, pricing dynamics and monthly trends.</a:t>
          </a:r>
          <a:endParaRPr lang="en-US"/>
        </a:p>
      </dgm:t>
    </dgm:pt>
    <dgm:pt modelId="{4E54CA95-4D1D-45E2-957C-FA8B7486DEF2}" type="parTrans" cxnId="{6C0EA252-95C1-4D2E-8684-6372D478F127}">
      <dgm:prSet/>
      <dgm:spPr/>
      <dgm:t>
        <a:bodyPr/>
        <a:lstStyle/>
        <a:p>
          <a:endParaRPr lang="en-US"/>
        </a:p>
      </dgm:t>
    </dgm:pt>
    <dgm:pt modelId="{5713BBE2-5920-42E4-A65E-828F5CBCE924}" type="sibTrans" cxnId="{6C0EA252-95C1-4D2E-8684-6372D478F127}">
      <dgm:prSet/>
      <dgm:spPr/>
      <dgm:t>
        <a:bodyPr/>
        <a:lstStyle/>
        <a:p>
          <a:endParaRPr lang="en-US"/>
        </a:p>
      </dgm:t>
    </dgm:pt>
    <dgm:pt modelId="{F3402DE8-F0FB-4A81-8663-A7730FC72B17}">
      <dgm:prSet/>
      <dgm:spPr/>
      <dgm:t>
        <a:bodyPr/>
        <a:lstStyle/>
        <a:p>
          <a:r>
            <a:rPr lang="en-NG"/>
            <a:t>The findings reveal the business’ reliance on high-price products which is the major drivers of revenue for the business.</a:t>
          </a:r>
          <a:endParaRPr lang="en-US"/>
        </a:p>
      </dgm:t>
    </dgm:pt>
    <dgm:pt modelId="{458A5E2B-40CB-478B-92A2-6723F4D293C7}" type="parTrans" cxnId="{3E712470-7EBB-4996-9EF3-92DD6893E541}">
      <dgm:prSet/>
      <dgm:spPr/>
      <dgm:t>
        <a:bodyPr/>
        <a:lstStyle/>
        <a:p>
          <a:endParaRPr lang="en-US"/>
        </a:p>
      </dgm:t>
    </dgm:pt>
    <dgm:pt modelId="{1F38D0C8-6BC7-4822-86DA-F3376C7B6215}" type="sibTrans" cxnId="{3E712470-7EBB-4996-9EF3-92DD6893E541}">
      <dgm:prSet/>
      <dgm:spPr/>
      <dgm:t>
        <a:bodyPr/>
        <a:lstStyle/>
        <a:p>
          <a:endParaRPr lang="en-US"/>
        </a:p>
      </dgm:t>
    </dgm:pt>
    <dgm:pt modelId="{EEAED1E5-EC17-49D3-B79C-DA43073A0FF2}">
      <dgm:prSet/>
      <dgm:spPr/>
      <dgm:t>
        <a:bodyPr/>
        <a:lstStyle/>
        <a:p>
          <a:r>
            <a:rPr lang="en-NG"/>
            <a:t>This insight directly informs the strategic action of diversifying to other product categories to inprove revenue stability.</a:t>
          </a:r>
          <a:endParaRPr lang="en-US"/>
        </a:p>
      </dgm:t>
    </dgm:pt>
    <dgm:pt modelId="{B90BD3C3-DB66-485B-9346-C1B646555184}" type="parTrans" cxnId="{FDE95AD5-0866-4193-89A0-9FF8EF4563C1}">
      <dgm:prSet/>
      <dgm:spPr/>
      <dgm:t>
        <a:bodyPr/>
        <a:lstStyle/>
        <a:p>
          <a:endParaRPr lang="en-US"/>
        </a:p>
      </dgm:t>
    </dgm:pt>
    <dgm:pt modelId="{5780FB52-4A7F-4F2B-BB0F-3BEC7EF5D080}" type="sibTrans" cxnId="{FDE95AD5-0866-4193-89A0-9FF8EF4563C1}">
      <dgm:prSet/>
      <dgm:spPr/>
      <dgm:t>
        <a:bodyPr/>
        <a:lstStyle/>
        <a:p>
          <a:endParaRPr lang="en-US"/>
        </a:p>
      </dgm:t>
    </dgm:pt>
    <dgm:pt modelId="{0E21F21E-A2A1-4665-9902-957E005B873C}" type="pres">
      <dgm:prSet presAssocID="{25606519-A130-467C-B6F2-699BAF1B6127}" presName="root" presStyleCnt="0">
        <dgm:presLayoutVars>
          <dgm:dir/>
          <dgm:resizeHandles val="exact"/>
        </dgm:presLayoutVars>
      </dgm:prSet>
      <dgm:spPr/>
    </dgm:pt>
    <dgm:pt modelId="{11D17D5F-B384-4197-A5F9-25A04EE700EB}" type="pres">
      <dgm:prSet presAssocID="{92ABAC15-2403-4F6D-9613-7E41D5635511}" presName="compNode" presStyleCnt="0"/>
      <dgm:spPr/>
    </dgm:pt>
    <dgm:pt modelId="{52D86139-25DC-4107-A1F8-48C3EDD7A698}" type="pres">
      <dgm:prSet presAssocID="{92ABAC15-2403-4F6D-9613-7E41D5635511}" presName="bgRect" presStyleLbl="bgShp" presStyleIdx="0" presStyleCnt="5"/>
      <dgm:spPr/>
    </dgm:pt>
    <dgm:pt modelId="{41408DD3-94FE-4429-B2D1-09EE7B821C21}" type="pres">
      <dgm:prSet presAssocID="{92ABAC15-2403-4F6D-9613-7E41D563551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uble"/>
        </a:ext>
      </dgm:extLst>
    </dgm:pt>
    <dgm:pt modelId="{FB25E303-9027-46B6-875E-1C07976D9AD2}" type="pres">
      <dgm:prSet presAssocID="{92ABAC15-2403-4F6D-9613-7E41D5635511}" presName="spaceRect" presStyleCnt="0"/>
      <dgm:spPr/>
    </dgm:pt>
    <dgm:pt modelId="{81B959D0-CB94-4475-8EDF-42576569960E}" type="pres">
      <dgm:prSet presAssocID="{92ABAC15-2403-4F6D-9613-7E41D5635511}" presName="parTx" presStyleLbl="revTx" presStyleIdx="0" presStyleCnt="5">
        <dgm:presLayoutVars>
          <dgm:chMax val="0"/>
          <dgm:chPref val="0"/>
        </dgm:presLayoutVars>
      </dgm:prSet>
      <dgm:spPr/>
    </dgm:pt>
    <dgm:pt modelId="{1B6CC16F-CD30-4DD2-A078-22D4C1F2F167}" type="pres">
      <dgm:prSet presAssocID="{9C1EB43F-79E1-47FA-B878-2EC05941577D}" presName="sibTrans" presStyleCnt="0"/>
      <dgm:spPr/>
    </dgm:pt>
    <dgm:pt modelId="{F49CCC36-3D09-4042-8B28-B65232C4C8D8}" type="pres">
      <dgm:prSet presAssocID="{F73949DD-BE1F-4365-ABB6-E91BE017D6A2}" presName="compNode" presStyleCnt="0"/>
      <dgm:spPr/>
    </dgm:pt>
    <dgm:pt modelId="{1FE3016E-3213-4E9B-8661-2ACC7DBACC7D}" type="pres">
      <dgm:prSet presAssocID="{F73949DD-BE1F-4365-ABB6-E91BE017D6A2}" presName="bgRect" presStyleLbl="bgShp" presStyleIdx="1" presStyleCnt="5"/>
      <dgm:spPr/>
    </dgm:pt>
    <dgm:pt modelId="{3A72D3A9-2444-4E2B-BB50-80A3F231FF22}" type="pres">
      <dgm:prSet presAssocID="{F73949DD-BE1F-4365-ABB6-E91BE017D6A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ity"/>
        </a:ext>
      </dgm:extLst>
    </dgm:pt>
    <dgm:pt modelId="{3D741AAD-E415-4904-899B-493A4A3F8282}" type="pres">
      <dgm:prSet presAssocID="{F73949DD-BE1F-4365-ABB6-E91BE017D6A2}" presName="spaceRect" presStyleCnt="0"/>
      <dgm:spPr/>
    </dgm:pt>
    <dgm:pt modelId="{4DBBC11F-EB3C-4408-AB7C-3757002E2677}" type="pres">
      <dgm:prSet presAssocID="{F73949DD-BE1F-4365-ABB6-E91BE017D6A2}" presName="parTx" presStyleLbl="revTx" presStyleIdx="1" presStyleCnt="5">
        <dgm:presLayoutVars>
          <dgm:chMax val="0"/>
          <dgm:chPref val="0"/>
        </dgm:presLayoutVars>
      </dgm:prSet>
      <dgm:spPr/>
    </dgm:pt>
    <dgm:pt modelId="{FB699722-417B-475C-B94C-D0A2C7181B72}" type="pres">
      <dgm:prSet presAssocID="{AFDE3FBE-9363-445A-AC94-F70C32D9A671}" presName="sibTrans" presStyleCnt="0"/>
      <dgm:spPr/>
    </dgm:pt>
    <dgm:pt modelId="{6100F113-A018-47D9-B4BA-36B9D7955DA8}" type="pres">
      <dgm:prSet presAssocID="{27BDAF73-ADB4-4749-8397-A74EBCBADB73}" presName="compNode" presStyleCnt="0"/>
      <dgm:spPr/>
    </dgm:pt>
    <dgm:pt modelId="{F201E532-3657-4E0A-BFB1-290D447B3CE2}" type="pres">
      <dgm:prSet presAssocID="{27BDAF73-ADB4-4749-8397-A74EBCBADB73}" presName="bgRect" presStyleLbl="bgShp" presStyleIdx="2" presStyleCnt="5"/>
      <dgm:spPr/>
    </dgm:pt>
    <dgm:pt modelId="{B655AF0F-6E02-41DC-B602-C091ABCDB754}" type="pres">
      <dgm:prSet presAssocID="{27BDAF73-ADB4-4749-8397-A74EBCBADB7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67CEAD84-30C9-4D5C-87F4-5DB6294316AA}" type="pres">
      <dgm:prSet presAssocID="{27BDAF73-ADB4-4749-8397-A74EBCBADB73}" presName="spaceRect" presStyleCnt="0"/>
      <dgm:spPr/>
    </dgm:pt>
    <dgm:pt modelId="{6F2C33E1-5EEE-4064-8815-20F2B18ED5F5}" type="pres">
      <dgm:prSet presAssocID="{27BDAF73-ADB4-4749-8397-A74EBCBADB73}" presName="parTx" presStyleLbl="revTx" presStyleIdx="2" presStyleCnt="5">
        <dgm:presLayoutVars>
          <dgm:chMax val="0"/>
          <dgm:chPref val="0"/>
        </dgm:presLayoutVars>
      </dgm:prSet>
      <dgm:spPr/>
    </dgm:pt>
    <dgm:pt modelId="{9E843F8D-1F05-45EB-BD28-D75823D7AE20}" type="pres">
      <dgm:prSet presAssocID="{5713BBE2-5920-42E4-A65E-828F5CBCE924}" presName="sibTrans" presStyleCnt="0"/>
      <dgm:spPr/>
    </dgm:pt>
    <dgm:pt modelId="{E0EFF632-AF72-4ED0-A229-65C57A0049EC}" type="pres">
      <dgm:prSet presAssocID="{F3402DE8-F0FB-4A81-8663-A7730FC72B17}" presName="compNode" presStyleCnt="0"/>
      <dgm:spPr/>
    </dgm:pt>
    <dgm:pt modelId="{51C912D3-59BC-49C2-8BE6-42C49B907261}" type="pres">
      <dgm:prSet presAssocID="{F3402DE8-F0FB-4A81-8663-A7730FC72B17}" presName="bgRect" presStyleLbl="bgShp" presStyleIdx="3" presStyleCnt="5"/>
      <dgm:spPr/>
    </dgm:pt>
    <dgm:pt modelId="{78B4E3B0-501F-45FA-9AC6-18994663A3B4}" type="pres">
      <dgm:prSet presAssocID="{F3402DE8-F0FB-4A81-8663-A7730FC72B1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llar"/>
        </a:ext>
      </dgm:extLst>
    </dgm:pt>
    <dgm:pt modelId="{B3E84345-8156-46D4-BFF1-EA84FB4BE812}" type="pres">
      <dgm:prSet presAssocID="{F3402DE8-F0FB-4A81-8663-A7730FC72B17}" presName="spaceRect" presStyleCnt="0"/>
      <dgm:spPr/>
    </dgm:pt>
    <dgm:pt modelId="{D737D48A-8FF2-4F29-A621-B14A2896909C}" type="pres">
      <dgm:prSet presAssocID="{F3402DE8-F0FB-4A81-8663-A7730FC72B17}" presName="parTx" presStyleLbl="revTx" presStyleIdx="3" presStyleCnt="5">
        <dgm:presLayoutVars>
          <dgm:chMax val="0"/>
          <dgm:chPref val="0"/>
        </dgm:presLayoutVars>
      </dgm:prSet>
      <dgm:spPr/>
    </dgm:pt>
    <dgm:pt modelId="{67049B94-F011-4E2C-BD2A-727FF1A7DC55}" type="pres">
      <dgm:prSet presAssocID="{1F38D0C8-6BC7-4822-86DA-F3376C7B6215}" presName="sibTrans" presStyleCnt="0"/>
      <dgm:spPr/>
    </dgm:pt>
    <dgm:pt modelId="{DCD4950F-2707-4B10-A5E9-F1E3CA5D9C94}" type="pres">
      <dgm:prSet presAssocID="{EEAED1E5-EC17-49D3-B79C-DA43073A0FF2}" presName="compNode" presStyleCnt="0"/>
      <dgm:spPr/>
    </dgm:pt>
    <dgm:pt modelId="{5DBE4A4E-B3A9-4811-8522-9DCDE6733510}" type="pres">
      <dgm:prSet presAssocID="{EEAED1E5-EC17-49D3-B79C-DA43073A0FF2}" presName="bgRect" presStyleLbl="bgShp" presStyleIdx="4" presStyleCnt="5"/>
      <dgm:spPr/>
    </dgm:pt>
    <dgm:pt modelId="{7DBB89B4-BC3E-4B8A-A779-C6939EC0C479}" type="pres">
      <dgm:prSet presAssocID="{EEAED1E5-EC17-49D3-B79C-DA43073A0FF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aximise"/>
        </a:ext>
      </dgm:extLst>
    </dgm:pt>
    <dgm:pt modelId="{8EE31120-15FD-435A-AE53-2C18A6DDC17A}" type="pres">
      <dgm:prSet presAssocID="{EEAED1E5-EC17-49D3-B79C-DA43073A0FF2}" presName="spaceRect" presStyleCnt="0"/>
      <dgm:spPr/>
    </dgm:pt>
    <dgm:pt modelId="{B7EAE944-F278-4E4B-8002-CAFCADA8383F}" type="pres">
      <dgm:prSet presAssocID="{EEAED1E5-EC17-49D3-B79C-DA43073A0FF2}" presName="parTx" presStyleLbl="revTx" presStyleIdx="4" presStyleCnt="5">
        <dgm:presLayoutVars>
          <dgm:chMax val="0"/>
          <dgm:chPref val="0"/>
        </dgm:presLayoutVars>
      </dgm:prSet>
      <dgm:spPr/>
    </dgm:pt>
  </dgm:ptLst>
  <dgm:cxnLst>
    <dgm:cxn modelId="{5C9D1431-6F0B-41C2-BA2C-0CEA5FF20983}" type="presOf" srcId="{F73949DD-BE1F-4365-ABB6-E91BE017D6A2}" destId="{4DBBC11F-EB3C-4408-AB7C-3757002E2677}" srcOrd="0" destOrd="0" presId="urn:microsoft.com/office/officeart/2018/2/layout/IconVerticalSolidList"/>
    <dgm:cxn modelId="{6C0EA252-95C1-4D2E-8684-6372D478F127}" srcId="{25606519-A130-467C-B6F2-699BAF1B6127}" destId="{27BDAF73-ADB4-4749-8397-A74EBCBADB73}" srcOrd="2" destOrd="0" parTransId="{4E54CA95-4D1D-45E2-957C-FA8B7486DEF2}" sibTransId="{5713BBE2-5920-42E4-A65E-828F5CBCE924}"/>
    <dgm:cxn modelId="{A0EED95E-8E1B-43A3-A0E3-FA7DCE92E55F}" type="presOf" srcId="{25606519-A130-467C-B6F2-699BAF1B6127}" destId="{0E21F21E-A2A1-4665-9902-957E005B873C}" srcOrd="0" destOrd="0" presId="urn:microsoft.com/office/officeart/2018/2/layout/IconVerticalSolidList"/>
    <dgm:cxn modelId="{FA56596B-E4B4-4E6D-A3A1-50E43236E525}" type="presOf" srcId="{27BDAF73-ADB4-4749-8397-A74EBCBADB73}" destId="{6F2C33E1-5EEE-4064-8815-20F2B18ED5F5}" srcOrd="0" destOrd="0" presId="urn:microsoft.com/office/officeart/2018/2/layout/IconVerticalSolidList"/>
    <dgm:cxn modelId="{3E712470-7EBB-4996-9EF3-92DD6893E541}" srcId="{25606519-A130-467C-B6F2-699BAF1B6127}" destId="{F3402DE8-F0FB-4A81-8663-A7730FC72B17}" srcOrd="3" destOrd="0" parTransId="{458A5E2B-40CB-478B-92A2-6723F4D293C7}" sibTransId="{1F38D0C8-6BC7-4822-86DA-F3376C7B6215}"/>
    <dgm:cxn modelId="{26AFA884-0B2B-42C4-9906-25C1F73D04BA}" type="presOf" srcId="{F3402DE8-F0FB-4A81-8663-A7730FC72B17}" destId="{D737D48A-8FF2-4F29-A621-B14A2896909C}" srcOrd="0" destOrd="0" presId="urn:microsoft.com/office/officeart/2018/2/layout/IconVerticalSolidList"/>
    <dgm:cxn modelId="{44350B87-1562-4EEC-B076-6AF1AFBECC75}" type="presOf" srcId="{EEAED1E5-EC17-49D3-B79C-DA43073A0FF2}" destId="{B7EAE944-F278-4E4B-8002-CAFCADA8383F}" srcOrd="0" destOrd="0" presId="urn:microsoft.com/office/officeart/2018/2/layout/IconVerticalSolidList"/>
    <dgm:cxn modelId="{1CE7C0A5-90B2-4928-B8E8-A27DD688CB96}" srcId="{25606519-A130-467C-B6F2-699BAF1B6127}" destId="{92ABAC15-2403-4F6D-9613-7E41D5635511}" srcOrd="0" destOrd="0" parTransId="{12BD282E-A60D-4933-AC49-3065CD19EE44}" sibTransId="{9C1EB43F-79E1-47FA-B878-2EC05941577D}"/>
    <dgm:cxn modelId="{27DEF3D0-9B60-4CC8-885A-FCC9A6392512}" type="presOf" srcId="{92ABAC15-2403-4F6D-9613-7E41D5635511}" destId="{81B959D0-CB94-4475-8EDF-42576569960E}" srcOrd="0" destOrd="0" presId="urn:microsoft.com/office/officeart/2018/2/layout/IconVerticalSolidList"/>
    <dgm:cxn modelId="{FDE95AD5-0866-4193-89A0-9FF8EF4563C1}" srcId="{25606519-A130-467C-B6F2-699BAF1B6127}" destId="{EEAED1E5-EC17-49D3-B79C-DA43073A0FF2}" srcOrd="4" destOrd="0" parTransId="{B90BD3C3-DB66-485B-9346-C1B646555184}" sibTransId="{5780FB52-4A7F-4F2B-BB0F-3BEC7EF5D080}"/>
    <dgm:cxn modelId="{C72006F9-92D6-40CB-BA2A-01D807AEA2F3}" srcId="{25606519-A130-467C-B6F2-699BAF1B6127}" destId="{F73949DD-BE1F-4365-ABB6-E91BE017D6A2}" srcOrd="1" destOrd="0" parTransId="{F8721596-C74B-49AA-9960-C845D8B75C85}" sibTransId="{AFDE3FBE-9363-445A-AC94-F70C32D9A671}"/>
    <dgm:cxn modelId="{C390514F-5666-4C71-8AC2-7554C7A7E5DB}" type="presParOf" srcId="{0E21F21E-A2A1-4665-9902-957E005B873C}" destId="{11D17D5F-B384-4197-A5F9-25A04EE700EB}" srcOrd="0" destOrd="0" presId="urn:microsoft.com/office/officeart/2018/2/layout/IconVerticalSolidList"/>
    <dgm:cxn modelId="{A10D69AD-6A86-4476-A770-02AF63583968}" type="presParOf" srcId="{11D17D5F-B384-4197-A5F9-25A04EE700EB}" destId="{52D86139-25DC-4107-A1F8-48C3EDD7A698}" srcOrd="0" destOrd="0" presId="urn:microsoft.com/office/officeart/2018/2/layout/IconVerticalSolidList"/>
    <dgm:cxn modelId="{8D6C86EB-981F-4E48-B120-FDCE8464C816}" type="presParOf" srcId="{11D17D5F-B384-4197-A5F9-25A04EE700EB}" destId="{41408DD3-94FE-4429-B2D1-09EE7B821C21}" srcOrd="1" destOrd="0" presId="urn:microsoft.com/office/officeart/2018/2/layout/IconVerticalSolidList"/>
    <dgm:cxn modelId="{8DA0BEB9-5C1F-4876-A810-0A56C3C7F0F7}" type="presParOf" srcId="{11D17D5F-B384-4197-A5F9-25A04EE700EB}" destId="{FB25E303-9027-46B6-875E-1C07976D9AD2}" srcOrd="2" destOrd="0" presId="urn:microsoft.com/office/officeart/2018/2/layout/IconVerticalSolidList"/>
    <dgm:cxn modelId="{0326AD67-140F-4091-964F-5784E89414BE}" type="presParOf" srcId="{11D17D5F-B384-4197-A5F9-25A04EE700EB}" destId="{81B959D0-CB94-4475-8EDF-42576569960E}" srcOrd="3" destOrd="0" presId="urn:microsoft.com/office/officeart/2018/2/layout/IconVerticalSolidList"/>
    <dgm:cxn modelId="{6581E1CF-EF6F-4E77-AC92-4EAEA21FF715}" type="presParOf" srcId="{0E21F21E-A2A1-4665-9902-957E005B873C}" destId="{1B6CC16F-CD30-4DD2-A078-22D4C1F2F167}" srcOrd="1" destOrd="0" presId="urn:microsoft.com/office/officeart/2018/2/layout/IconVerticalSolidList"/>
    <dgm:cxn modelId="{EC4BB37C-A8EF-4A30-A091-DEE0B20E8EEA}" type="presParOf" srcId="{0E21F21E-A2A1-4665-9902-957E005B873C}" destId="{F49CCC36-3D09-4042-8B28-B65232C4C8D8}" srcOrd="2" destOrd="0" presId="urn:microsoft.com/office/officeart/2018/2/layout/IconVerticalSolidList"/>
    <dgm:cxn modelId="{82C4A908-1B5E-4F40-AD7A-DB9A7F41A035}" type="presParOf" srcId="{F49CCC36-3D09-4042-8B28-B65232C4C8D8}" destId="{1FE3016E-3213-4E9B-8661-2ACC7DBACC7D}" srcOrd="0" destOrd="0" presId="urn:microsoft.com/office/officeart/2018/2/layout/IconVerticalSolidList"/>
    <dgm:cxn modelId="{B100172D-3F38-48A7-8021-DDC600E2749B}" type="presParOf" srcId="{F49CCC36-3D09-4042-8B28-B65232C4C8D8}" destId="{3A72D3A9-2444-4E2B-BB50-80A3F231FF22}" srcOrd="1" destOrd="0" presId="urn:microsoft.com/office/officeart/2018/2/layout/IconVerticalSolidList"/>
    <dgm:cxn modelId="{6C9231E3-B248-4DA8-AED7-659744F1AA43}" type="presParOf" srcId="{F49CCC36-3D09-4042-8B28-B65232C4C8D8}" destId="{3D741AAD-E415-4904-899B-493A4A3F8282}" srcOrd="2" destOrd="0" presId="urn:microsoft.com/office/officeart/2018/2/layout/IconVerticalSolidList"/>
    <dgm:cxn modelId="{BAB7A11C-61F9-45C1-AC12-8154F1B656F1}" type="presParOf" srcId="{F49CCC36-3D09-4042-8B28-B65232C4C8D8}" destId="{4DBBC11F-EB3C-4408-AB7C-3757002E2677}" srcOrd="3" destOrd="0" presId="urn:microsoft.com/office/officeart/2018/2/layout/IconVerticalSolidList"/>
    <dgm:cxn modelId="{170E72AF-590E-4C7E-95CE-A7FFD326F8E5}" type="presParOf" srcId="{0E21F21E-A2A1-4665-9902-957E005B873C}" destId="{FB699722-417B-475C-B94C-D0A2C7181B72}" srcOrd="3" destOrd="0" presId="urn:microsoft.com/office/officeart/2018/2/layout/IconVerticalSolidList"/>
    <dgm:cxn modelId="{B62BEF47-0A13-4F54-B8D0-BF302A25FC55}" type="presParOf" srcId="{0E21F21E-A2A1-4665-9902-957E005B873C}" destId="{6100F113-A018-47D9-B4BA-36B9D7955DA8}" srcOrd="4" destOrd="0" presId="urn:microsoft.com/office/officeart/2018/2/layout/IconVerticalSolidList"/>
    <dgm:cxn modelId="{27175CAA-1DE9-4A13-A0B6-7DC760E2C880}" type="presParOf" srcId="{6100F113-A018-47D9-B4BA-36B9D7955DA8}" destId="{F201E532-3657-4E0A-BFB1-290D447B3CE2}" srcOrd="0" destOrd="0" presId="urn:microsoft.com/office/officeart/2018/2/layout/IconVerticalSolidList"/>
    <dgm:cxn modelId="{CBD271B5-3A0F-494D-882A-6CEFB91958E0}" type="presParOf" srcId="{6100F113-A018-47D9-B4BA-36B9D7955DA8}" destId="{B655AF0F-6E02-41DC-B602-C091ABCDB754}" srcOrd="1" destOrd="0" presId="urn:microsoft.com/office/officeart/2018/2/layout/IconVerticalSolidList"/>
    <dgm:cxn modelId="{B57D6910-3375-410E-9D3D-625DFC4ECF8D}" type="presParOf" srcId="{6100F113-A018-47D9-B4BA-36B9D7955DA8}" destId="{67CEAD84-30C9-4D5C-87F4-5DB6294316AA}" srcOrd="2" destOrd="0" presId="urn:microsoft.com/office/officeart/2018/2/layout/IconVerticalSolidList"/>
    <dgm:cxn modelId="{403F1F72-2C45-4D29-B076-E1137E8D7F03}" type="presParOf" srcId="{6100F113-A018-47D9-B4BA-36B9D7955DA8}" destId="{6F2C33E1-5EEE-4064-8815-20F2B18ED5F5}" srcOrd="3" destOrd="0" presId="urn:microsoft.com/office/officeart/2018/2/layout/IconVerticalSolidList"/>
    <dgm:cxn modelId="{D05102D3-0FF6-4C35-86F6-8EA9719585F9}" type="presParOf" srcId="{0E21F21E-A2A1-4665-9902-957E005B873C}" destId="{9E843F8D-1F05-45EB-BD28-D75823D7AE20}" srcOrd="5" destOrd="0" presId="urn:microsoft.com/office/officeart/2018/2/layout/IconVerticalSolidList"/>
    <dgm:cxn modelId="{25A71657-DE93-4AF7-9C78-0E0AD8F4F4B0}" type="presParOf" srcId="{0E21F21E-A2A1-4665-9902-957E005B873C}" destId="{E0EFF632-AF72-4ED0-A229-65C57A0049EC}" srcOrd="6" destOrd="0" presId="urn:microsoft.com/office/officeart/2018/2/layout/IconVerticalSolidList"/>
    <dgm:cxn modelId="{7BE50F80-567B-415B-8983-3AF4DBD8BF5F}" type="presParOf" srcId="{E0EFF632-AF72-4ED0-A229-65C57A0049EC}" destId="{51C912D3-59BC-49C2-8BE6-42C49B907261}" srcOrd="0" destOrd="0" presId="urn:microsoft.com/office/officeart/2018/2/layout/IconVerticalSolidList"/>
    <dgm:cxn modelId="{E5FEF785-319C-48A0-9A05-BB96143DF165}" type="presParOf" srcId="{E0EFF632-AF72-4ED0-A229-65C57A0049EC}" destId="{78B4E3B0-501F-45FA-9AC6-18994663A3B4}" srcOrd="1" destOrd="0" presId="urn:microsoft.com/office/officeart/2018/2/layout/IconVerticalSolidList"/>
    <dgm:cxn modelId="{B50675A8-FDEF-4B97-AFF1-32BB5134BAD4}" type="presParOf" srcId="{E0EFF632-AF72-4ED0-A229-65C57A0049EC}" destId="{B3E84345-8156-46D4-BFF1-EA84FB4BE812}" srcOrd="2" destOrd="0" presId="urn:microsoft.com/office/officeart/2018/2/layout/IconVerticalSolidList"/>
    <dgm:cxn modelId="{AA5A52C8-4214-49B9-A18B-5FAE79C264FA}" type="presParOf" srcId="{E0EFF632-AF72-4ED0-A229-65C57A0049EC}" destId="{D737D48A-8FF2-4F29-A621-B14A2896909C}" srcOrd="3" destOrd="0" presId="urn:microsoft.com/office/officeart/2018/2/layout/IconVerticalSolidList"/>
    <dgm:cxn modelId="{340DA07B-B9D5-4D76-8A29-CBB12E16C49F}" type="presParOf" srcId="{0E21F21E-A2A1-4665-9902-957E005B873C}" destId="{67049B94-F011-4E2C-BD2A-727FF1A7DC55}" srcOrd="7" destOrd="0" presId="urn:microsoft.com/office/officeart/2018/2/layout/IconVerticalSolidList"/>
    <dgm:cxn modelId="{9A8E503A-F3A5-450A-A5DD-90773EF975B5}" type="presParOf" srcId="{0E21F21E-A2A1-4665-9902-957E005B873C}" destId="{DCD4950F-2707-4B10-A5E9-F1E3CA5D9C94}" srcOrd="8" destOrd="0" presId="urn:microsoft.com/office/officeart/2018/2/layout/IconVerticalSolidList"/>
    <dgm:cxn modelId="{8BAFC502-04DE-4B9B-A1F1-D641F8978A59}" type="presParOf" srcId="{DCD4950F-2707-4B10-A5E9-F1E3CA5D9C94}" destId="{5DBE4A4E-B3A9-4811-8522-9DCDE6733510}" srcOrd="0" destOrd="0" presId="urn:microsoft.com/office/officeart/2018/2/layout/IconVerticalSolidList"/>
    <dgm:cxn modelId="{80DFB9A1-615E-4352-8D26-58D054633DD1}" type="presParOf" srcId="{DCD4950F-2707-4B10-A5E9-F1E3CA5D9C94}" destId="{7DBB89B4-BC3E-4B8A-A779-C6939EC0C479}" srcOrd="1" destOrd="0" presId="urn:microsoft.com/office/officeart/2018/2/layout/IconVerticalSolidList"/>
    <dgm:cxn modelId="{3239B4EE-660C-413D-8B9D-E1321B8A9729}" type="presParOf" srcId="{DCD4950F-2707-4B10-A5E9-F1E3CA5D9C94}" destId="{8EE31120-15FD-435A-AE53-2C18A6DDC17A}" srcOrd="2" destOrd="0" presId="urn:microsoft.com/office/officeart/2018/2/layout/IconVerticalSolidList"/>
    <dgm:cxn modelId="{225E7B0F-8300-4C6C-BEDE-077819A702F4}" type="presParOf" srcId="{DCD4950F-2707-4B10-A5E9-F1E3CA5D9C94}" destId="{B7EAE944-F278-4E4B-8002-CAFCADA8383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60669D-9786-48B4-92B6-4721FE81C2C8}" type="doc">
      <dgm:prSet loTypeId="urn:microsoft.com/office/officeart/2005/8/layout/list1" loCatId="list" qsTypeId="urn:microsoft.com/office/officeart/2005/8/quickstyle/simple1" qsCatId="simple" csTypeId="urn:microsoft.com/office/officeart/2005/8/colors/colorful1" csCatId="colorful"/>
      <dgm:spPr/>
      <dgm:t>
        <a:bodyPr/>
        <a:lstStyle/>
        <a:p>
          <a:endParaRPr lang="en-US"/>
        </a:p>
      </dgm:t>
    </dgm:pt>
    <dgm:pt modelId="{238645BA-F14F-4920-908E-1E0FD0FCC444}">
      <dgm:prSet/>
      <dgm:spPr/>
      <dgm:t>
        <a:bodyPr/>
        <a:lstStyle/>
        <a:p>
          <a:r>
            <a:rPr lang="en-NG" dirty="0"/>
            <a:t>Dataset includes:</a:t>
          </a:r>
          <a:endParaRPr lang="en-US" dirty="0"/>
        </a:p>
      </dgm:t>
    </dgm:pt>
    <dgm:pt modelId="{3B1B19C7-0BAB-4176-A450-8253FAA7F85D}" type="parTrans" cxnId="{724D9BBA-694E-4EB0-90FC-65ED7967D0F3}">
      <dgm:prSet/>
      <dgm:spPr/>
      <dgm:t>
        <a:bodyPr/>
        <a:lstStyle/>
        <a:p>
          <a:endParaRPr lang="en-US"/>
        </a:p>
      </dgm:t>
    </dgm:pt>
    <dgm:pt modelId="{411FFD23-E0E2-41DF-8B14-EDA649D11CD2}" type="sibTrans" cxnId="{724D9BBA-694E-4EB0-90FC-65ED7967D0F3}">
      <dgm:prSet/>
      <dgm:spPr/>
      <dgm:t>
        <a:bodyPr/>
        <a:lstStyle/>
        <a:p>
          <a:endParaRPr lang="en-US"/>
        </a:p>
      </dgm:t>
    </dgm:pt>
    <dgm:pt modelId="{AF729043-4E3E-4620-BC81-3A852D1CB1B4}">
      <dgm:prSet/>
      <dgm:spPr/>
      <dgm:t>
        <a:bodyPr/>
        <a:lstStyle/>
        <a:p>
          <a:r>
            <a:rPr lang="en-NG"/>
            <a:t>5000 transactions</a:t>
          </a:r>
          <a:endParaRPr lang="en-US"/>
        </a:p>
      </dgm:t>
    </dgm:pt>
    <dgm:pt modelId="{AF89A716-2FBA-4911-AE35-2AD271B91B02}" type="parTrans" cxnId="{90035A9C-6F5F-4E59-98D4-8AA2D2B0437D}">
      <dgm:prSet/>
      <dgm:spPr/>
      <dgm:t>
        <a:bodyPr/>
        <a:lstStyle/>
        <a:p>
          <a:endParaRPr lang="en-US"/>
        </a:p>
      </dgm:t>
    </dgm:pt>
    <dgm:pt modelId="{CC8F1A67-8264-4586-B881-D51A845BCC3C}" type="sibTrans" cxnId="{90035A9C-6F5F-4E59-98D4-8AA2D2B0437D}">
      <dgm:prSet/>
      <dgm:spPr/>
      <dgm:t>
        <a:bodyPr/>
        <a:lstStyle/>
        <a:p>
          <a:endParaRPr lang="en-US"/>
        </a:p>
      </dgm:t>
    </dgm:pt>
    <dgm:pt modelId="{FF46D64C-5F22-4112-AFF4-368C17B4304E}">
      <dgm:prSet/>
      <dgm:spPr/>
      <dgm:t>
        <a:bodyPr/>
        <a:lstStyle/>
        <a:p>
          <a:r>
            <a:rPr lang="en-NG"/>
            <a:t>257 unique products</a:t>
          </a:r>
          <a:endParaRPr lang="en-US"/>
        </a:p>
      </dgm:t>
    </dgm:pt>
    <dgm:pt modelId="{3222EC76-9B4B-4E39-B2F2-4BC83D1A0A96}" type="parTrans" cxnId="{EA1472FE-8132-4675-946F-3C0C05D2FD1F}">
      <dgm:prSet/>
      <dgm:spPr/>
      <dgm:t>
        <a:bodyPr/>
        <a:lstStyle/>
        <a:p>
          <a:endParaRPr lang="en-US"/>
        </a:p>
      </dgm:t>
    </dgm:pt>
    <dgm:pt modelId="{D39514E2-013E-442D-AC08-DBE2A74230EC}" type="sibTrans" cxnId="{EA1472FE-8132-4675-946F-3C0C05D2FD1F}">
      <dgm:prSet/>
      <dgm:spPr/>
      <dgm:t>
        <a:bodyPr/>
        <a:lstStyle/>
        <a:p>
          <a:endParaRPr lang="en-US"/>
        </a:p>
      </dgm:t>
    </dgm:pt>
    <dgm:pt modelId="{1E07BD84-4205-46BB-A293-EDE6AD2F3321}">
      <dgm:prSet/>
      <dgm:spPr/>
      <dgm:t>
        <a:bodyPr/>
        <a:lstStyle/>
        <a:p>
          <a:r>
            <a:rPr lang="en-NG"/>
            <a:t>2 cities (Sydney, Melbourne)</a:t>
          </a:r>
          <a:endParaRPr lang="en-US"/>
        </a:p>
      </dgm:t>
    </dgm:pt>
    <dgm:pt modelId="{6E250B41-AC5F-4563-85A2-7E15F229AC29}" type="parTrans" cxnId="{C50BDCD5-D008-45AD-A2FF-81E955C13057}">
      <dgm:prSet/>
      <dgm:spPr/>
      <dgm:t>
        <a:bodyPr/>
        <a:lstStyle/>
        <a:p>
          <a:endParaRPr lang="en-US"/>
        </a:p>
      </dgm:t>
    </dgm:pt>
    <dgm:pt modelId="{4132FB5B-59A6-403E-8D14-B38640A915A4}" type="sibTrans" cxnId="{C50BDCD5-D008-45AD-A2FF-81E955C13057}">
      <dgm:prSet/>
      <dgm:spPr/>
      <dgm:t>
        <a:bodyPr/>
        <a:lstStyle/>
        <a:p>
          <a:endParaRPr lang="en-US"/>
        </a:p>
      </dgm:t>
    </dgm:pt>
    <dgm:pt modelId="{55C2A3BE-E411-4D84-9644-31C5FED68036}">
      <dgm:prSet/>
      <dgm:spPr/>
      <dgm:t>
        <a:bodyPr/>
        <a:lstStyle/>
        <a:p>
          <a:r>
            <a:rPr lang="en-NG"/>
            <a:t>Product pricing, categories, discounts</a:t>
          </a:r>
          <a:endParaRPr lang="en-US"/>
        </a:p>
      </dgm:t>
    </dgm:pt>
    <dgm:pt modelId="{C624D1F7-F205-44C2-9E4F-0F7A5732ED44}" type="parTrans" cxnId="{FCCADB04-C672-45FB-A34E-52242F3D9FE4}">
      <dgm:prSet/>
      <dgm:spPr/>
      <dgm:t>
        <a:bodyPr/>
        <a:lstStyle/>
        <a:p>
          <a:endParaRPr lang="en-US"/>
        </a:p>
      </dgm:t>
    </dgm:pt>
    <dgm:pt modelId="{58B3308A-FBCD-4AA6-A96F-7AB8E2ED1A5A}" type="sibTrans" cxnId="{FCCADB04-C672-45FB-A34E-52242F3D9FE4}">
      <dgm:prSet/>
      <dgm:spPr/>
      <dgm:t>
        <a:bodyPr/>
        <a:lstStyle/>
        <a:p>
          <a:endParaRPr lang="en-US"/>
        </a:p>
      </dgm:t>
    </dgm:pt>
    <dgm:pt modelId="{9695F99B-68D3-47A0-B3F6-EC22FC042E6F}">
      <dgm:prSet/>
      <dgm:spPr/>
      <dgm:t>
        <a:bodyPr/>
        <a:lstStyle/>
        <a:p>
          <a:r>
            <a:rPr lang="en-NG"/>
            <a:t>Customer names and purchase history</a:t>
          </a:r>
          <a:endParaRPr lang="en-US"/>
        </a:p>
      </dgm:t>
    </dgm:pt>
    <dgm:pt modelId="{456B5C66-3D33-402A-B5A7-5CADD2EE2145}" type="parTrans" cxnId="{59658A73-5A4F-4CBC-B37F-30150C0EB0A9}">
      <dgm:prSet/>
      <dgm:spPr/>
      <dgm:t>
        <a:bodyPr/>
        <a:lstStyle/>
        <a:p>
          <a:endParaRPr lang="en-US"/>
        </a:p>
      </dgm:t>
    </dgm:pt>
    <dgm:pt modelId="{B4D5AEEC-7376-4A8F-ADFD-748583BF808C}" type="sibTrans" cxnId="{59658A73-5A4F-4CBC-B37F-30150C0EB0A9}">
      <dgm:prSet/>
      <dgm:spPr/>
      <dgm:t>
        <a:bodyPr/>
        <a:lstStyle/>
        <a:p>
          <a:endParaRPr lang="en-US"/>
        </a:p>
      </dgm:t>
    </dgm:pt>
    <dgm:pt modelId="{21F9AE8E-E14C-9442-90A2-CF97C51EE40F}" type="pres">
      <dgm:prSet presAssocID="{6C60669D-9786-48B4-92B6-4721FE81C2C8}" presName="linear" presStyleCnt="0">
        <dgm:presLayoutVars>
          <dgm:dir/>
          <dgm:animLvl val="lvl"/>
          <dgm:resizeHandles val="exact"/>
        </dgm:presLayoutVars>
      </dgm:prSet>
      <dgm:spPr/>
    </dgm:pt>
    <dgm:pt modelId="{DD5CA264-25FA-744B-A332-16DFA475CA49}" type="pres">
      <dgm:prSet presAssocID="{238645BA-F14F-4920-908E-1E0FD0FCC444}" presName="parentLin" presStyleCnt="0"/>
      <dgm:spPr/>
    </dgm:pt>
    <dgm:pt modelId="{747064A2-98D7-2743-BB6B-9215E86315C2}" type="pres">
      <dgm:prSet presAssocID="{238645BA-F14F-4920-908E-1E0FD0FCC444}" presName="parentLeftMargin" presStyleLbl="node1" presStyleIdx="0" presStyleCnt="1"/>
      <dgm:spPr/>
    </dgm:pt>
    <dgm:pt modelId="{FF003808-183F-EB44-8E1C-45F05DFF3AC9}" type="pres">
      <dgm:prSet presAssocID="{238645BA-F14F-4920-908E-1E0FD0FCC444}" presName="parentText" presStyleLbl="node1" presStyleIdx="0" presStyleCnt="1">
        <dgm:presLayoutVars>
          <dgm:chMax val="0"/>
          <dgm:bulletEnabled val="1"/>
        </dgm:presLayoutVars>
      </dgm:prSet>
      <dgm:spPr/>
    </dgm:pt>
    <dgm:pt modelId="{598C40D7-F55C-B145-BDCA-209D7BDBCB4B}" type="pres">
      <dgm:prSet presAssocID="{238645BA-F14F-4920-908E-1E0FD0FCC444}" presName="negativeSpace" presStyleCnt="0"/>
      <dgm:spPr/>
    </dgm:pt>
    <dgm:pt modelId="{20828F8B-40F0-174F-AA21-391D4732CF30}" type="pres">
      <dgm:prSet presAssocID="{238645BA-F14F-4920-908E-1E0FD0FCC444}" presName="childText" presStyleLbl="conFgAcc1" presStyleIdx="0" presStyleCnt="1">
        <dgm:presLayoutVars>
          <dgm:bulletEnabled val="1"/>
        </dgm:presLayoutVars>
      </dgm:prSet>
      <dgm:spPr/>
    </dgm:pt>
  </dgm:ptLst>
  <dgm:cxnLst>
    <dgm:cxn modelId="{FCCADB04-C672-45FB-A34E-52242F3D9FE4}" srcId="{238645BA-F14F-4920-908E-1E0FD0FCC444}" destId="{55C2A3BE-E411-4D84-9644-31C5FED68036}" srcOrd="3" destOrd="0" parTransId="{C624D1F7-F205-44C2-9E4F-0F7A5732ED44}" sibTransId="{58B3308A-FBCD-4AA6-A96F-7AB8E2ED1A5A}"/>
    <dgm:cxn modelId="{1C43C815-1498-BA41-A6ED-81577BB95D32}" type="presOf" srcId="{238645BA-F14F-4920-908E-1E0FD0FCC444}" destId="{FF003808-183F-EB44-8E1C-45F05DFF3AC9}" srcOrd="1" destOrd="0" presId="urn:microsoft.com/office/officeart/2005/8/layout/list1"/>
    <dgm:cxn modelId="{F9C11C1B-4DE5-FA4B-9336-7D81C9A91B5F}" type="presOf" srcId="{55C2A3BE-E411-4D84-9644-31C5FED68036}" destId="{20828F8B-40F0-174F-AA21-391D4732CF30}" srcOrd="0" destOrd="3" presId="urn:microsoft.com/office/officeart/2005/8/layout/list1"/>
    <dgm:cxn modelId="{22CD7031-9620-E747-8E65-17D8ECACA8D1}" type="presOf" srcId="{FF46D64C-5F22-4112-AFF4-368C17B4304E}" destId="{20828F8B-40F0-174F-AA21-391D4732CF30}" srcOrd="0" destOrd="1" presId="urn:microsoft.com/office/officeart/2005/8/layout/list1"/>
    <dgm:cxn modelId="{CBAD1A32-276B-F544-AE6E-AEDE7A86D8F4}" type="presOf" srcId="{6C60669D-9786-48B4-92B6-4721FE81C2C8}" destId="{21F9AE8E-E14C-9442-90A2-CF97C51EE40F}" srcOrd="0" destOrd="0" presId="urn:microsoft.com/office/officeart/2005/8/layout/list1"/>
    <dgm:cxn modelId="{A2B7D051-9F47-9E4D-A305-104357C9868D}" type="presOf" srcId="{1E07BD84-4205-46BB-A293-EDE6AD2F3321}" destId="{20828F8B-40F0-174F-AA21-391D4732CF30}" srcOrd="0" destOrd="2" presId="urn:microsoft.com/office/officeart/2005/8/layout/list1"/>
    <dgm:cxn modelId="{BF0F1D58-DAA1-A048-9ECA-746C1FBC9BCB}" type="presOf" srcId="{9695F99B-68D3-47A0-B3F6-EC22FC042E6F}" destId="{20828F8B-40F0-174F-AA21-391D4732CF30}" srcOrd="0" destOrd="4" presId="urn:microsoft.com/office/officeart/2005/8/layout/list1"/>
    <dgm:cxn modelId="{59658A73-5A4F-4CBC-B37F-30150C0EB0A9}" srcId="{238645BA-F14F-4920-908E-1E0FD0FCC444}" destId="{9695F99B-68D3-47A0-B3F6-EC22FC042E6F}" srcOrd="4" destOrd="0" parTransId="{456B5C66-3D33-402A-B5A7-5CADD2EE2145}" sibTransId="{B4D5AEEC-7376-4A8F-ADFD-748583BF808C}"/>
    <dgm:cxn modelId="{6D6D607A-C629-8C4E-8A92-0F548B2A86B6}" type="presOf" srcId="{238645BA-F14F-4920-908E-1E0FD0FCC444}" destId="{747064A2-98D7-2743-BB6B-9215E86315C2}" srcOrd="0" destOrd="0" presId="urn:microsoft.com/office/officeart/2005/8/layout/list1"/>
    <dgm:cxn modelId="{90035A9C-6F5F-4E59-98D4-8AA2D2B0437D}" srcId="{238645BA-F14F-4920-908E-1E0FD0FCC444}" destId="{AF729043-4E3E-4620-BC81-3A852D1CB1B4}" srcOrd="0" destOrd="0" parTransId="{AF89A716-2FBA-4911-AE35-2AD271B91B02}" sibTransId="{CC8F1A67-8264-4586-B881-D51A845BCC3C}"/>
    <dgm:cxn modelId="{724D9BBA-694E-4EB0-90FC-65ED7967D0F3}" srcId="{6C60669D-9786-48B4-92B6-4721FE81C2C8}" destId="{238645BA-F14F-4920-908E-1E0FD0FCC444}" srcOrd="0" destOrd="0" parTransId="{3B1B19C7-0BAB-4176-A450-8253FAA7F85D}" sibTransId="{411FFD23-E0E2-41DF-8B14-EDA649D11CD2}"/>
    <dgm:cxn modelId="{C50BDCD5-D008-45AD-A2FF-81E955C13057}" srcId="{238645BA-F14F-4920-908E-1E0FD0FCC444}" destId="{1E07BD84-4205-46BB-A293-EDE6AD2F3321}" srcOrd="2" destOrd="0" parTransId="{6E250B41-AC5F-4563-85A2-7E15F229AC29}" sibTransId="{4132FB5B-59A6-403E-8D14-B38640A915A4}"/>
    <dgm:cxn modelId="{C55AB9DB-4F93-0F41-B18F-C15FF1E35114}" type="presOf" srcId="{AF729043-4E3E-4620-BC81-3A852D1CB1B4}" destId="{20828F8B-40F0-174F-AA21-391D4732CF30}" srcOrd="0" destOrd="0" presId="urn:microsoft.com/office/officeart/2005/8/layout/list1"/>
    <dgm:cxn modelId="{EA1472FE-8132-4675-946F-3C0C05D2FD1F}" srcId="{238645BA-F14F-4920-908E-1E0FD0FCC444}" destId="{FF46D64C-5F22-4112-AFF4-368C17B4304E}" srcOrd="1" destOrd="0" parTransId="{3222EC76-9B4B-4E39-B2F2-4BC83D1A0A96}" sibTransId="{D39514E2-013E-442D-AC08-DBE2A74230EC}"/>
    <dgm:cxn modelId="{2EB2739A-FD0D-1347-91D9-6187A95D0C18}" type="presParOf" srcId="{21F9AE8E-E14C-9442-90A2-CF97C51EE40F}" destId="{DD5CA264-25FA-744B-A332-16DFA475CA49}" srcOrd="0" destOrd="0" presId="urn:microsoft.com/office/officeart/2005/8/layout/list1"/>
    <dgm:cxn modelId="{7FC8E364-777C-564B-91C8-F2BF24A76F2A}" type="presParOf" srcId="{DD5CA264-25FA-744B-A332-16DFA475CA49}" destId="{747064A2-98D7-2743-BB6B-9215E86315C2}" srcOrd="0" destOrd="0" presId="urn:microsoft.com/office/officeart/2005/8/layout/list1"/>
    <dgm:cxn modelId="{C5463E41-08B5-6D48-A464-C2ED273A7B5C}" type="presParOf" srcId="{DD5CA264-25FA-744B-A332-16DFA475CA49}" destId="{FF003808-183F-EB44-8E1C-45F05DFF3AC9}" srcOrd="1" destOrd="0" presId="urn:microsoft.com/office/officeart/2005/8/layout/list1"/>
    <dgm:cxn modelId="{83571D4F-87B9-6944-A3E4-E36CE53D1859}" type="presParOf" srcId="{21F9AE8E-E14C-9442-90A2-CF97C51EE40F}" destId="{598C40D7-F55C-B145-BDCA-209D7BDBCB4B}" srcOrd="1" destOrd="0" presId="urn:microsoft.com/office/officeart/2005/8/layout/list1"/>
    <dgm:cxn modelId="{ACCF871B-EF76-A842-917D-FFF71AB1B0D1}" type="presParOf" srcId="{21F9AE8E-E14C-9442-90A2-CF97C51EE40F}" destId="{20828F8B-40F0-174F-AA21-391D4732CF30}"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802BFC-AEA2-4214-B2BF-0B348692673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CC5D12B5-6020-4639-A1D2-09C401B76E28}">
      <dgm:prSet/>
      <dgm:spPr/>
      <dgm:t>
        <a:bodyPr/>
        <a:lstStyle/>
        <a:p>
          <a:pPr>
            <a:lnSpc>
              <a:spcPct val="100000"/>
            </a:lnSpc>
          </a:pPr>
          <a:r>
            <a:rPr lang="en-US"/>
            <a:t>Dataset was cleaned and transformed using Python</a:t>
          </a:r>
        </a:p>
      </dgm:t>
    </dgm:pt>
    <dgm:pt modelId="{0DE3508D-1BEA-4A15-9A96-2DC5B3F5FE8F}" type="parTrans" cxnId="{599EE5E0-B4BA-4150-9C81-4DE98DF14FBD}">
      <dgm:prSet/>
      <dgm:spPr/>
      <dgm:t>
        <a:bodyPr/>
        <a:lstStyle/>
        <a:p>
          <a:endParaRPr lang="en-US"/>
        </a:p>
      </dgm:t>
    </dgm:pt>
    <dgm:pt modelId="{B2C9AC89-C330-45D4-9735-587551379D48}" type="sibTrans" cxnId="{599EE5E0-B4BA-4150-9C81-4DE98DF14FBD}">
      <dgm:prSet/>
      <dgm:spPr/>
      <dgm:t>
        <a:bodyPr/>
        <a:lstStyle/>
        <a:p>
          <a:endParaRPr lang="en-US"/>
        </a:p>
      </dgm:t>
    </dgm:pt>
    <dgm:pt modelId="{77F40808-899C-433F-B165-D210475BC521}">
      <dgm:prSet/>
      <dgm:spPr/>
      <dgm:t>
        <a:bodyPr/>
        <a:lstStyle/>
        <a:p>
          <a:pPr>
            <a:lnSpc>
              <a:spcPct val="100000"/>
            </a:lnSpc>
          </a:pPr>
          <a:r>
            <a:rPr lang="en-US"/>
            <a:t>For KPIs (Key Performance Indicators), DAX was built in PowerBI</a:t>
          </a:r>
        </a:p>
      </dgm:t>
    </dgm:pt>
    <dgm:pt modelId="{8E60A40B-09A3-43E7-8E2D-95BEE4D3CFD9}" type="parTrans" cxnId="{80211473-5A1B-4EB7-83EE-CD1300E3CF35}">
      <dgm:prSet/>
      <dgm:spPr/>
      <dgm:t>
        <a:bodyPr/>
        <a:lstStyle/>
        <a:p>
          <a:endParaRPr lang="en-US"/>
        </a:p>
      </dgm:t>
    </dgm:pt>
    <dgm:pt modelId="{3B1D980D-EEAC-4FEA-BD01-157B63CBD1A2}" type="sibTrans" cxnId="{80211473-5A1B-4EB7-83EE-CD1300E3CF35}">
      <dgm:prSet/>
      <dgm:spPr/>
      <dgm:t>
        <a:bodyPr/>
        <a:lstStyle/>
        <a:p>
          <a:endParaRPr lang="en-US"/>
        </a:p>
      </dgm:t>
    </dgm:pt>
    <dgm:pt modelId="{553756D6-72A9-4CE9-8910-2FA7A297FE41}">
      <dgm:prSet/>
      <dgm:spPr/>
      <dgm:t>
        <a:bodyPr/>
        <a:lstStyle/>
        <a:p>
          <a:pPr>
            <a:lnSpc>
              <a:spcPct val="100000"/>
            </a:lnSpc>
          </a:pPr>
          <a:r>
            <a:rPr lang="en-US"/>
            <a:t>Design of 3 dashboard pages: Revenue Overview, Customer Insights, Product Analysis.</a:t>
          </a:r>
        </a:p>
      </dgm:t>
    </dgm:pt>
    <dgm:pt modelId="{58E0EF9B-51B4-4548-A3AE-6BE7109E78DB}" type="parTrans" cxnId="{0524F5E5-B0F1-4127-9C4B-35DADBC1433E}">
      <dgm:prSet/>
      <dgm:spPr/>
      <dgm:t>
        <a:bodyPr/>
        <a:lstStyle/>
        <a:p>
          <a:endParaRPr lang="en-US"/>
        </a:p>
      </dgm:t>
    </dgm:pt>
    <dgm:pt modelId="{3161B890-CB58-4E1A-95FD-1DEF699D9411}" type="sibTrans" cxnId="{0524F5E5-B0F1-4127-9C4B-35DADBC1433E}">
      <dgm:prSet/>
      <dgm:spPr/>
      <dgm:t>
        <a:bodyPr/>
        <a:lstStyle/>
        <a:p>
          <a:endParaRPr lang="en-US"/>
        </a:p>
      </dgm:t>
    </dgm:pt>
    <dgm:pt modelId="{7125C23E-A8B3-DF43-9EF8-F1783F5476C3}" type="pres">
      <dgm:prSet presAssocID="{9B802BFC-AEA2-4214-B2BF-0B3486926730}" presName="vert0" presStyleCnt="0">
        <dgm:presLayoutVars>
          <dgm:dir/>
          <dgm:animOne val="branch"/>
          <dgm:animLvl val="lvl"/>
        </dgm:presLayoutVars>
      </dgm:prSet>
      <dgm:spPr/>
    </dgm:pt>
    <dgm:pt modelId="{5F1387D0-7F75-ED4C-8A1B-2374D2FE2496}" type="pres">
      <dgm:prSet presAssocID="{CC5D12B5-6020-4639-A1D2-09C401B76E28}" presName="thickLine" presStyleLbl="alignNode1" presStyleIdx="0" presStyleCnt="3"/>
      <dgm:spPr/>
    </dgm:pt>
    <dgm:pt modelId="{AEA1A379-18A3-6546-848C-10DECC965772}" type="pres">
      <dgm:prSet presAssocID="{CC5D12B5-6020-4639-A1D2-09C401B76E28}" presName="horz1" presStyleCnt="0"/>
      <dgm:spPr/>
    </dgm:pt>
    <dgm:pt modelId="{CA9E13C3-0672-DD4C-B6F3-83035CDC7F2B}" type="pres">
      <dgm:prSet presAssocID="{CC5D12B5-6020-4639-A1D2-09C401B76E28}" presName="tx1" presStyleLbl="revTx" presStyleIdx="0" presStyleCnt="3"/>
      <dgm:spPr/>
    </dgm:pt>
    <dgm:pt modelId="{DB2FF576-0C9E-0D40-8B21-D4526D71442D}" type="pres">
      <dgm:prSet presAssocID="{CC5D12B5-6020-4639-A1D2-09C401B76E28}" presName="vert1" presStyleCnt="0"/>
      <dgm:spPr/>
    </dgm:pt>
    <dgm:pt modelId="{BC81FA60-3F98-FC4C-8D37-F8C390D634E0}" type="pres">
      <dgm:prSet presAssocID="{77F40808-899C-433F-B165-D210475BC521}" presName="thickLine" presStyleLbl="alignNode1" presStyleIdx="1" presStyleCnt="3"/>
      <dgm:spPr/>
    </dgm:pt>
    <dgm:pt modelId="{DF01ECB2-B25C-3B44-B56E-343166FBB419}" type="pres">
      <dgm:prSet presAssocID="{77F40808-899C-433F-B165-D210475BC521}" presName="horz1" presStyleCnt="0"/>
      <dgm:spPr/>
    </dgm:pt>
    <dgm:pt modelId="{A69ADCB4-D44D-F94F-881A-CD47526144C7}" type="pres">
      <dgm:prSet presAssocID="{77F40808-899C-433F-B165-D210475BC521}" presName="tx1" presStyleLbl="revTx" presStyleIdx="1" presStyleCnt="3"/>
      <dgm:spPr/>
    </dgm:pt>
    <dgm:pt modelId="{E885B40B-F3D8-AC4E-9E5C-302F18648AF5}" type="pres">
      <dgm:prSet presAssocID="{77F40808-899C-433F-B165-D210475BC521}" presName="vert1" presStyleCnt="0"/>
      <dgm:spPr/>
    </dgm:pt>
    <dgm:pt modelId="{D6277D11-4FF0-2142-9BAA-B766EA2A8E9A}" type="pres">
      <dgm:prSet presAssocID="{553756D6-72A9-4CE9-8910-2FA7A297FE41}" presName="thickLine" presStyleLbl="alignNode1" presStyleIdx="2" presStyleCnt="3"/>
      <dgm:spPr/>
    </dgm:pt>
    <dgm:pt modelId="{98AA1EF7-B070-6645-A836-10203EA1D11B}" type="pres">
      <dgm:prSet presAssocID="{553756D6-72A9-4CE9-8910-2FA7A297FE41}" presName="horz1" presStyleCnt="0"/>
      <dgm:spPr/>
    </dgm:pt>
    <dgm:pt modelId="{B70D641C-98D3-D24E-B7F2-E1D208BBC54F}" type="pres">
      <dgm:prSet presAssocID="{553756D6-72A9-4CE9-8910-2FA7A297FE41}" presName="tx1" presStyleLbl="revTx" presStyleIdx="2" presStyleCnt="3"/>
      <dgm:spPr/>
    </dgm:pt>
    <dgm:pt modelId="{714C1C09-1279-8843-8517-6AA8CC90433E}" type="pres">
      <dgm:prSet presAssocID="{553756D6-72A9-4CE9-8910-2FA7A297FE41}" presName="vert1" presStyleCnt="0"/>
      <dgm:spPr/>
    </dgm:pt>
  </dgm:ptLst>
  <dgm:cxnLst>
    <dgm:cxn modelId="{80211473-5A1B-4EB7-83EE-CD1300E3CF35}" srcId="{9B802BFC-AEA2-4214-B2BF-0B3486926730}" destId="{77F40808-899C-433F-B165-D210475BC521}" srcOrd="1" destOrd="0" parTransId="{8E60A40B-09A3-43E7-8E2D-95BEE4D3CFD9}" sibTransId="{3B1D980D-EEAC-4FEA-BD01-157B63CBD1A2}"/>
    <dgm:cxn modelId="{851C868F-A240-DF4F-AD18-609546366B73}" type="presOf" srcId="{9B802BFC-AEA2-4214-B2BF-0B3486926730}" destId="{7125C23E-A8B3-DF43-9EF8-F1783F5476C3}" srcOrd="0" destOrd="0" presId="urn:microsoft.com/office/officeart/2008/layout/LinedList"/>
    <dgm:cxn modelId="{C5F1D1AA-56D1-2546-B5EA-C75C61CD6C1F}" type="presOf" srcId="{553756D6-72A9-4CE9-8910-2FA7A297FE41}" destId="{B70D641C-98D3-D24E-B7F2-E1D208BBC54F}" srcOrd="0" destOrd="0" presId="urn:microsoft.com/office/officeart/2008/layout/LinedList"/>
    <dgm:cxn modelId="{D8CBF4C3-A876-FF40-9B02-5639CA9D2DAA}" type="presOf" srcId="{77F40808-899C-433F-B165-D210475BC521}" destId="{A69ADCB4-D44D-F94F-881A-CD47526144C7}" srcOrd="0" destOrd="0" presId="urn:microsoft.com/office/officeart/2008/layout/LinedList"/>
    <dgm:cxn modelId="{05363BDF-3EE2-2D47-9987-0587C5D4CEBC}" type="presOf" srcId="{CC5D12B5-6020-4639-A1D2-09C401B76E28}" destId="{CA9E13C3-0672-DD4C-B6F3-83035CDC7F2B}" srcOrd="0" destOrd="0" presId="urn:microsoft.com/office/officeart/2008/layout/LinedList"/>
    <dgm:cxn modelId="{599EE5E0-B4BA-4150-9C81-4DE98DF14FBD}" srcId="{9B802BFC-AEA2-4214-B2BF-0B3486926730}" destId="{CC5D12B5-6020-4639-A1D2-09C401B76E28}" srcOrd="0" destOrd="0" parTransId="{0DE3508D-1BEA-4A15-9A96-2DC5B3F5FE8F}" sibTransId="{B2C9AC89-C330-45D4-9735-587551379D48}"/>
    <dgm:cxn modelId="{0524F5E5-B0F1-4127-9C4B-35DADBC1433E}" srcId="{9B802BFC-AEA2-4214-B2BF-0B3486926730}" destId="{553756D6-72A9-4CE9-8910-2FA7A297FE41}" srcOrd="2" destOrd="0" parTransId="{58E0EF9B-51B4-4548-A3AE-6BE7109E78DB}" sibTransId="{3161B890-CB58-4E1A-95FD-1DEF699D9411}"/>
    <dgm:cxn modelId="{F644F441-6964-5F49-A24C-765B8E622FF4}" type="presParOf" srcId="{7125C23E-A8B3-DF43-9EF8-F1783F5476C3}" destId="{5F1387D0-7F75-ED4C-8A1B-2374D2FE2496}" srcOrd="0" destOrd="0" presId="urn:microsoft.com/office/officeart/2008/layout/LinedList"/>
    <dgm:cxn modelId="{48F3CF9A-3B87-D842-A8B5-5BE9C60B266A}" type="presParOf" srcId="{7125C23E-A8B3-DF43-9EF8-F1783F5476C3}" destId="{AEA1A379-18A3-6546-848C-10DECC965772}" srcOrd="1" destOrd="0" presId="urn:microsoft.com/office/officeart/2008/layout/LinedList"/>
    <dgm:cxn modelId="{9EA255E7-8218-7547-96F2-96082D3CD554}" type="presParOf" srcId="{AEA1A379-18A3-6546-848C-10DECC965772}" destId="{CA9E13C3-0672-DD4C-B6F3-83035CDC7F2B}" srcOrd="0" destOrd="0" presId="urn:microsoft.com/office/officeart/2008/layout/LinedList"/>
    <dgm:cxn modelId="{0C099CDF-591A-D846-9747-FAAEA141E568}" type="presParOf" srcId="{AEA1A379-18A3-6546-848C-10DECC965772}" destId="{DB2FF576-0C9E-0D40-8B21-D4526D71442D}" srcOrd="1" destOrd="0" presId="urn:microsoft.com/office/officeart/2008/layout/LinedList"/>
    <dgm:cxn modelId="{94C12C73-48AA-0946-8252-C7239A89B134}" type="presParOf" srcId="{7125C23E-A8B3-DF43-9EF8-F1783F5476C3}" destId="{BC81FA60-3F98-FC4C-8D37-F8C390D634E0}" srcOrd="2" destOrd="0" presId="urn:microsoft.com/office/officeart/2008/layout/LinedList"/>
    <dgm:cxn modelId="{8C3E6F45-1E28-5144-9A50-E533D008A4B6}" type="presParOf" srcId="{7125C23E-A8B3-DF43-9EF8-F1783F5476C3}" destId="{DF01ECB2-B25C-3B44-B56E-343166FBB419}" srcOrd="3" destOrd="0" presId="urn:microsoft.com/office/officeart/2008/layout/LinedList"/>
    <dgm:cxn modelId="{49B419E5-40B6-E24B-A93F-2BE3B7FC4B09}" type="presParOf" srcId="{DF01ECB2-B25C-3B44-B56E-343166FBB419}" destId="{A69ADCB4-D44D-F94F-881A-CD47526144C7}" srcOrd="0" destOrd="0" presId="urn:microsoft.com/office/officeart/2008/layout/LinedList"/>
    <dgm:cxn modelId="{14BC2486-B3B0-2045-8A55-DCB54F546937}" type="presParOf" srcId="{DF01ECB2-B25C-3B44-B56E-343166FBB419}" destId="{E885B40B-F3D8-AC4E-9E5C-302F18648AF5}" srcOrd="1" destOrd="0" presId="urn:microsoft.com/office/officeart/2008/layout/LinedList"/>
    <dgm:cxn modelId="{6EDA652D-A5A2-F14A-B25C-622A84566095}" type="presParOf" srcId="{7125C23E-A8B3-DF43-9EF8-F1783F5476C3}" destId="{D6277D11-4FF0-2142-9BAA-B766EA2A8E9A}" srcOrd="4" destOrd="0" presId="urn:microsoft.com/office/officeart/2008/layout/LinedList"/>
    <dgm:cxn modelId="{823E7754-7F61-074C-8902-96093B57E677}" type="presParOf" srcId="{7125C23E-A8B3-DF43-9EF8-F1783F5476C3}" destId="{98AA1EF7-B070-6645-A836-10203EA1D11B}" srcOrd="5" destOrd="0" presId="urn:microsoft.com/office/officeart/2008/layout/LinedList"/>
    <dgm:cxn modelId="{33E335FB-2E02-2449-9EDD-E08FE6417189}" type="presParOf" srcId="{98AA1EF7-B070-6645-A836-10203EA1D11B}" destId="{B70D641C-98D3-D24E-B7F2-E1D208BBC54F}" srcOrd="0" destOrd="0" presId="urn:microsoft.com/office/officeart/2008/layout/LinedList"/>
    <dgm:cxn modelId="{4AE549F1-B240-934D-BBBC-C33661AB0607}" type="presParOf" srcId="{98AA1EF7-B070-6645-A836-10203EA1D11B}" destId="{714C1C09-1279-8843-8517-6AA8CC90433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D86139-25DC-4107-A1F8-48C3EDD7A698}">
      <dsp:nvSpPr>
        <dsp:cNvPr id="0" name=""/>
        <dsp:cNvSpPr/>
      </dsp:nvSpPr>
      <dsp:spPr>
        <a:xfrm>
          <a:off x="0" y="4296"/>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408DD3-94FE-4429-B2D1-09EE7B821C21}">
      <dsp:nvSpPr>
        <dsp:cNvPr id="0" name=""/>
        <dsp:cNvSpPr/>
      </dsp:nvSpPr>
      <dsp:spPr>
        <a:xfrm>
          <a:off x="276813" y="210190"/>
          <a:ext cx="503296" cy="5032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B959D0-CB94-4475-8EDF-42576569960E}">
      <dsp:nvSpPr>
        <dsp:cNvPr id="0" name=""/>
        <dsp:cNvSpPr/>
      </dsp:nvSpPr>
      <dsp:spPr>
        <a:xfrm>
          <a:off x="1056922" y="4296"/>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marL="0" lvl="0" indent="0" algn="l" defTabSz="622300">
            <a:lnSpc>
              <a:spcPct val="90000"/>
            </a:lnSpc>
            <a:spcBef>
              <a:spcPct val="0"/>
            </a:spcBef>
            <a:spcAft>
              <a:spcPct val="35000"/>
            </a:spcAft>
            <a:buNone/>
          </a:pPr>
          <a:r>
            <a:rPr lang="en-NG" sz="1400" kern="1200"/>
            <a:t>In this analysis, key drivers of revenue was explored in different aspects of the business such as product price tiers, customer segments and categories.</a:t>
          </a:r>
          <a:endParaRPr lang="en-US" sz="1400" kern="1200"/>
        </a:p>
      </dsp:txBody>
      <dsp:txXfrm>
        <a:off x="1056922" y="4296"/>
        <a:ext cx="5115025" cy="915084"/>
      </dsp:txXfrm>
    </dsp:sp>
    <dsp:sp modelId="{1FE3016E-3213-4E9B-8661-2ACC7DBACC7D}">
      <dsp:nvSpPr>
        <dsp:cNvPr id="0" name=""/>
        <dsp:cNvSpPr/>
      </dsp:nvSpPr>
      <dsp:spPr>
        <a:xfrm>
          <a:off x="0" y="1148151"/>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72D3A9-2444-4E2B-BB50-80A3F231FF22}">
      <dsp:nvSpPr>
        <dsp:cNvPr id="0" name=""/>
        <dsp:cNvSpPr/>
      </dsp:nvSpPr>
      <dsp:spPr>
        <a:xfrm>
          <a:off x="276813" y="1354045"/>
          <a:ext cx="503296" cy="5032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BBC11F-EB3C-4408-AB7C-3757002E2677}">
      <dsp:nvSpPr>
        <dsp:cNvPr id="0" name=""/>
        <dsp:cNvSpPr/>
      </dsp:nvSpPr>
      <dsp:spPr>
        <a:xfrm>
          <a:off x="1056922" y="1148151"/>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marL="0" lvl="0" indent="0" algn="l" defTabSz="622300">
            <a:lnSpc>
              <a:spcPct val="90000"/>
            </a:lnSpc>
            <a:spcBef>
              <a:spcPct val="0"/>
            </a:spcBef>
            <a:spcAft>
              <a:spcPct val="35000"/>
            </a:spcAft>
            <a:buNone/>
          </a:pPr>
          <a:r>
            <a:rPr lang="en-NG" sz="1400" kern="1200"/>
            <a:t>With the dataset which consist of 5000 transaction records, 257 products and the business operating in two major cities, the goal of this analysis is to discover the factors that drive revenue.</a:t>
          </a:r>
          <a:endParaRPr lang="en-US" sz="1400" kern="1200"/>
        </a:p>
      </dsp:txBody>
      <dsp:txXfrm>
        <a:off x="1056922" y="1148151"/>
        <a:ext cx="5115025" cy="915084"/>
      </dsp:txXfrm>
    </dsp:sp>
    <dsp:sp modelId="{F201E532-3657-4E0A-BFB1-290D447B3CE2}">
      <dsp:nvSpPr>
        <dsp:cNvPr id="0" name=""/>
        <dsp:cNvSpPr/>
      </dsp:nvSpPr>
      <dsp:spPr>
        <a:xfrm>
          <a:off x="0" y="2292007"/>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55AF0F-6E02-41DC-B602-C091ABCDB754}">
      <dsp:nvSpPr>
        <dsp:cNvPr id="0" name=""/>
        <dsp:cNvSpPr/>
      </dsp:nvSpPr>
      <dsp:spPr>
        <a:xfrm>
          <a:off x="276813" y="2497901"/>
          <a:ext cx="503296" cy="5032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2C33E1-5EEE-4064-8815-20F2B18ED5F5}">
      <dsp:nvSpPr>
        <dsp:cNvPr id="0" name=""/>
        <dsp:cNvSpPr/>
      </dsp:nvSpPr>
      <dsp:spPr>
        <a:xfrm>
          <a:off x="1056922" y="2292007"/>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marL="0" lvl="0" indent="0" algn="l" defTabSz="622300">
            <a:lnSpc>
              <a:spcPct val="90000"/>
            </a:lnSpc>
            <a:spcBef>
              <a:spcPct val="0"/>
            </a:spcBef>
            <a:spcAft>
              <a:spcPct val="35000"/>
            </a:spcAft>
            <a:buNone/>
          </a:pPr>
          <a:r>
            <a:rPr lang="en-NG" sz="1400" kern="1200"/>
            <a:t>The Power BI dashboards provide insights such as products that drive revenue, customer behaviour, pricing dynamics and monthly trends.</a:t>
          </a:r>
          <a:endParaRPr lang="en-US" sz="1400" kern="1200"/>
        </a:p>
      </dsp:txBody>
      <dsp:txXfrm>
        <a:off x="1056922" y="2292007"/>
        <a:ext cx="5115025" cy="915084"/>
      </dsp:txXfrm>
    </dsp:sp>
    <dsp:sp modelId="{51C912D3-59BC-49C2-8BE6-42C49B907261}">
      <dsp:nvSpPr>
        <dsp:cNvPr id="0" name=""/>
        <dsp:cNvSpPr/>
      </dsp:nvSpPr>
      <dsp:spPr>
        <a:xfrm>
          <a:off x="0" y="3435863"/>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B4E3B0-501F-45FA-9AC6-18994663A3B4}">
      <dsp:nvSpPr>
        <dsp:cNvPr id="0" name=""/>
        <dsp:cNvSpPr/>
      </dsp:nvSpPr>
      <dsp:spPr>
        <a:xfrm>
          <a:off x="276813" y="3641757"/>
          <a:ext cx="503296" cy="5032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37D48A-8FF2-4F29-A621-B14A2896909C}">
      <dsp:nvSpPr>
        <dsp:cNvPr id="0" name=""/>
        <dsp:cNvSpPr/>
      </dsp:nvSpPr>
      <dsp:spPr>
        <a:xfrm>
          <a:off x="1056922" y="3435863"/>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marL="0" lvl="0" indent="0" algn="l" defTabSz="622300">
            <a:lnSpc>
              <a:spcPct val="90000"/>
            </a:lnSpc>
            <a:spcBef>
              <a:spcPct val="0"/>
            </a:spcBef>
            <a:spcAft>
              <a:spcPct val="35000"/>
            </a:spcAft>
            <a:buNone/>
          </a:pPr>
          <a:r>
            <a:rPr lang="en-NG" sz="1400" kern="1200"/>
            <a:t>The findings reveal the business’ reliance on high-price products which is the major drivers of revenue for the business.</a:t>
          </a:r>
          <a:endParaRPr lang="en-US" sz="1400" kern="1200"/>
        </a:p>
      </dsp:txBody>
      <dsp:txXfrm>
        <a:off x="1056922" y="3435863"/>
        <a:ext cx="5115025" cy="915084"/>
      </dsp:txXfrm>
    </dsp:sp>
    <dsp:sp modelId="{5DBE4A4E-B3A9-4811-8522-9DCDE6733510}">
      <dsp:nvSpPr>
        <dsp:cNvPr id="0" name=""/>
        <dsp:cNvSpPr/>
      </dsp:nvSpPr>
      <dsp:spPr>
        <a:xfrm>
          <a:off x="0" y="4579719"/>
          <a:ext cx="6171948" cy="9150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BB89B4-BC3E-4B8A-A779-C6939EC0C479}">
      <dsp:nvSpPr>
        <dsp:cNvPr id="0" name=""/>
        <dsp:cNvSpPr/>
      </dsp:nvSpPr>
      <dsp:spPr>
        <a:xfrm>
          <a:off x="276813" y="4785613"/>
          <a:ext cx="503296" cy="50329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EAE944-F278-4E4B-8002-CAFCADA8383F}">
      <dsp:nvSpPr>
        <dsp:cNvPr id="0" name=""/>
        <dsp:cNvSpPr/>
      </dsp:nvSpPr>
      <dsp:spPr>
        <a:xfrm>
          <a:off x="1056922" y="4579719"/>
          <a:ext cx="5115025" cy="91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46" tIns="96846" rIns="96846" bIns="96846" numCol="1" spcCol="1270" anchor="ctr" anchorCtr="0">
          <a:noAutofit/>
        </a:bodyPr>
        <a:lstStyle/>
        <a:p>
          <a:pPr marL="0" lvl="0" indent="0" algn="l" defTabSz="622300">
            <a:lnSpc>
              <a:spcPct val="90000"/>
            </a:lnSpc>
            <a:spcBef>
              <a:spcPct val="0"/>
            </a:spcBef>
            <a:spcAft>
              <a:spcPct val="35000"/>
            </a:spcAft>
            <a:buNone/>
          </a:pPr>
          <a:r>
            <a:rPr lang="en-NG" sz="1400" kern="1200"/>
            <a:t>This insight directly informs the strategic action of diversifying to other product categories to inprove revenue stability.</a:t>
          </a:r>
          <a:endParaRPr lang="en-US" sz="1400" kern="1200"/>
        </a:p>
      </dsp:txBody>
      <dsp:txXfrm>
        <a:off x="1056922" y="4579719"/>
        <a:ext cx="5115025" cy="9150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828F8B-40F0-174F-AA21-391D4732CF30}">
      <dsp:nvSpPr>
        <dsp:cNvPr id="0" name=""/>
        <dsp:cNvSpPr/>
      </dsp:nvSpPr>
      <dsp:spPr>
        <a:xfrm>
          <a:off x="0" y="557790"/>
          <a:ext cx="5676900" cy="4781699"/>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0591" tIns="687324" rIns="440591" bIns="234696" numCol="1" spcCol="1270" anchor="t" anchorCtr="0">
          <a:noAutofit/>
        </a:bodyPr>
        <a:lstStyle/>
        <a:p>
          <a:pPr marL="285750" lvl="1" indent="-285750" algn="l" defTabSz="1466850">
            <a:lnSpc>
              <a:spcPct val="90000"/>
            </a:lnSpc>
            <a:spcBef>
              <a:spcPct val="0"/>
            </a:spcBef>
            <a:spcAft>
              <a:spcPct val="15000"/>
            </a:spcAft>
            <a:buChar char="•"/>
          </a:pPr>
          <a:r>
            <a:rPr lang="en-NG" sz="3300" kern="1200"/>
            <a:t>5000 transactions</a:t>
          </a:r>
          <a:endParaRPr lang="en-US" sz="3300" kern="1200"/>
        </a:p>
        <a:p>
          <a:pPr marL="285750" lvl="1" indent="-285750" algn="l" defTabSz="1466850">
            <a:lnSpc>
              <a:spcPct val="90000"/>
            </a:lnSpc>
            <a:spcBef>
              <a:spcPct val="0"/>
            </a:spcBef>
            <a:spcAft>
              <a:spcPct val="15000"/>
            </a:spcAft>
            <a:buChar char="•"/>
          </a:pPr>
          <a:r>
            <a:rPr lang="en-NG" sz="3300" kern="1200"/>
            <a:t>257 unique products</a:t>
          </a:r>
          <a:endParaRPr lang="en-US" sz="3300" kern="1200"/>
        </a:p>
        <a:p>
          <a:pPr marL="285750" lvl="1" indent="-285750" algn="l" defTabSz="1466850">
            <a:lnSpc>
              <a:spcPct val="90000"/>
            </a:lnSpc>
            <a:spcBef>
              <a:spcPct val="0"/>
            </a:spcBef>
            <a:spcAft>
              <a:spcPct val="15000"/>
            </a:spcAft>
            <a:buChar char="•"/>
          </a:pPr>
          <a:r>
            <a:rPr lang="en-NG" sz="3300" kern="1200"/>
            <a:t>2 cities (Sydney, Melbourne)</a:t>
          </a:r>
          <a:endParaRPr lang="en-US" sz="3300" kern="1200"/>
        </a:p>
        <a:p>
          <a:pPr marL="285750" lvl="1" indent="-285750" algn="l" defTabSz="1466850">
            <a:lnSpc>
              <a:spcPct val="90000"/>
            </a:lnSpc>
            <a:spcBef>
              <a:spcPct val="0"/>
            </a:spcBef>
            <a:spcAft>
              <a:spcPct val="15000"/>
            </a:spcAft>
            <a:buChar char="•"/>
          </a:pPr>
          <a:r>
            <a:rPr lang="en-NG" sz="3300" kern="1200"/>
            <a:t>Product pricing, categories, discounts</a:t>
          </a:r>
          <a:endParaRPr lang="en-US" sz="3300" kern="1200"/>
        </a:p>
        <a:p>
          <a:pPr marL="285750" lvl="1" indent="-285750" algn="l" defTabSz="1466850">
            <a:lnSpc>
              <a:spcPct val="90000"/>
            </a:lnSpc>
            <a:spcBef>
              <a:spcPct val="0"/>
            </a:spcBef>
            <a:spcAft>
              <a:spcPct val="15000"/>
            </a:spcAft>
            <a:buChar char="•"/>
          </a:pPr>
          <a:r>
            <a:rPr lang="en-NG" sz="3300" kern="1200"/>
            <a:t>Customer names and purchase history</a:t>
          </a:r>
          <a:endParaRPr lang="en-US" sz="3300" kern="1200"/>
        </a:p>
      </dsp:txBody>
      <dsp:txXfrm>
        <a:off x="0" y="557790"/>
        <a:ext cx="5676900" cy="4781699"/>
      </dsp:txXfrm>
    </dsp:sp>
    <dsp:sp modelId="{FF003808-183F-EB44-8E1C-45F05DFF3AC9}">
      <dsp:nvSpPr>
        <dsp:cNvPr id="0" name=""/>
        <dsp:cNvSpPr/>
      </dsp:nvSpPr>
      <dsp:spPr>
        <a:xfrm>
          <a:off x="283845" y="70710"/>
          <a:ext cx="3973830" cy="9741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0201" tIns="0" rIns="150201" bIns="0" numCol="1" spcCol="1270" anchor="ctr" anchorCtr="0">
          <a:noAutofit/>
        </a:bodyPr>
        <a:lstStyle/>
        <a:p>
          <a:pPr marL="0" lvl="0" indent="0" algn="l" defTabSz="1466850">
            <a:lnSpc>
              <a:spcPct val="90000"/>
            </a:lnSpc>
            <a:spcBef>
              <a:spcPct val="0"/>
            </a:spcBef>
            <a:spcAft>
              <a:spcPct val="35000"/>
            </a:spcAft>
            <a:buNone/>
          </a:pPr>
          <a:r>
            <a:rPr lang="en-NG" sz="3300" kern="1200" dirty="0"/>
            <a:t>Dataset includes:</a:t>
          </a:r>
          <a:endParaRPr lang="en-US" sz="3300" kern="1200" dirty="0"/>
        </a:p>
      </dsp:txBody>
      <dsp:txXfrm>
        <a:off x="331400" y="118265"/>
        <a:ext cx="3878720" cy="8790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1387D0-7F75-ED4C-8A1B-2374D2FE2496}">
      <dsp:nvSpPr>
        <dsp:cNvPr id="0" name=""/>
        <dsp:cNvSpPr/>
      </dsp:nvSpPr>
      <dsp:spPr>
        <a:xfrm>
          <a:off x="0" y="2446"/>
          <a:ext cx="614476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9E13C3-0672-DD4C-B6F3-83035CDC7F2B}">
      <dsp:nvSpPr>
        <dsp:cNvPr id="0" name=""/>
        <dsp:cNvSpPr/>
      </dsp:nvSpPr>
      <dsp:spPr>
        <a:xfrm>
          <a:off x="0" y="2446"/>
          <a:ext cx="6144767" cy="166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100000"/>
            </a:lnSpc>
            <a:spcBef>
              <a:spcPct val="0"/>
            </a:spcBef>
            <a:spcAft>
              <a:spcPct val="35000"/>
            </a:spcAft>
            <a:buNone/>
          </a:pPr>
          <a:r>
            <a:rPr lang="en-US" sz="3200" kern="1200"/>
            <a:t>Dataset was cleaned and transformed using Python</a:t>
          </a:r>
        </a:p>
      </dsp:txBody>
      <dsp:txXfrm>
        <a:off x="0" y="2446"/>
        <a:ext cx="6144767" cy="1668672"/>
      </dsp:txXfrm>
    </dsp:sp>
    <dsp:sp modelId="{BC81FA60-3F98-FC4C-8D37-F8C390D634E0}">
      <dsp:nvSpPr>
        <dsp:cNvPr id="0" name=""/>
        <dsp:cNvSpPr/>
      </dsp:nvSpPr>
      <dsp:spPr>
        <a:xfrm>
          <a:off x="0" y="1671119"/>
          <a:ext cx="614476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9ADCB4-D44D-F94F-881A-CD47526144C7}">
      <dsp:nvSpPr>
        <dsp:cNvPr id="0" name=""/>
        <dsp:cNvSpPr/>
      </dsp:nvSpPr>
      <dsp:spPr>
        <a:xfrm>
          <a:off x="0" y="1671119"/>
          <a:ext cx="6144767" cy="166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100000"/>
            </a:lnSpc>
            <a:spcBef>
              <a:spcPct val="0"/>
            </a:spcBef>
            <a:spcAft>
              <a:spcPct val="35000"/>
            </a:spcAft>
            <a:buNone/>
          </a:pPr>
          <a:r>
            <a:rPr lang="en-US" sz="3200" kern="1200"/>
            <a:t>For KPIs (Key Performance Indicators), DAX was built in PowerBI</a:t>
          </a:r>
        </a:p>
      </dsp:txBody>
      <dsp:txXfrm>
        <a:off x="0" y="1671119"/>
        <a:ext cx="6144767" cy="1668672"/>
      </dsp:txXfrm>
    </dsp:sp>
    <dsp:sp modelId="{D6277D11-4FF0-2142-9BAA-B766EA2A8E9A}">
      <dsp:nvSpPr>
        <dsp:cNvPr id="0" name=""/>
        <dsp:cNvSpPr/>
      </dsp:nvSpPr>
      <dsp:spPr>
        <a:xfrm>
          <a:off x="0" y="3339792"/>
          <a:ext cx="614476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0D641C-98D3-D24E-B7F2-E1D208BBC54F}">
      <dsp:nvSpPr>
        <dsp:cNvPr id="0" name=""/>
        <dsp:cNvSpPr/>
      </dsp:nvSpPr>
      <dsp:spPr>
        <a:xfrm>
          <a:off x="0" y="3339792"/>
          <a:ext cx="6144767" cy="166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100000"/>
            </a:lnSpc>
            <a:spcBef>
              <a:spcPct val="0"/>
            </a:spcBef>
            <a:spcAft>
              <a:spcPct val="35000"/>
            </a:spcAft>
            <a:buNone/>
          </a:pPr>
          <a:r>
            <a:rPr lang="en-US" sz="3200" kern="1200"/>
            <a:t>Design of 3 dashboard pages: Revenue Overview, Customer Insights, Product Analysis.</a:t>
          </a:r>
        </a:p>
      </dsp:txBody>
      <dsp:txXfrm>
        <a:off x="0" y="3339792"/>
        <a:ext cx="6144767" cy="166867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12/10/25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67836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12/10/25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02279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12/10/25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86268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12/10/25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20917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12/10/25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759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12/10/25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45571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12/10/25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20158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12/10/25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85512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12/10/25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71106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12/10/25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14384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12/10/25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3576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12/10/25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494661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DDAB06-4557-23F7-14C6-39BC84979CC6}"/>
              </a:ext>
            </a:extLst>
          </p:cNvPr>
          <p:cNvSpPr>
            <a:spLocks noGrp="1"/>
          </p:cNvSpPr>
          <p:nvPr>
            <p:ph type="ctrTitle"/>
          </p:nvPr>
        </p:nvSpPr>
        <p:spPr>
          <a:xfrm>
            <a:off x="703400" y="908651"/>
            <a:ext cx="4937004" cy="4058682"/>
          </a:xfrm>
        </p:spPr>
        <p:txBody>
          <a:bodyPr vert="horz" lIns="91440" tIns="45720" rIns="91440" bIns="45720" rtlCol="0" anchor="t">
            <a:normAutofit/>
          </a:bodyPr>
          <a:lstStyle/>
          <a:p>
            <a:pPr>
              <a:lnSpc>
                <a:spcPct val="90000"/>
              </a:lnSpc>
            </a:pPr>
            <a:r>
              <a:rPr lang="en-US" sz="5500" b="1"/>
              <a:t>Sales Insights &amp; Revenue Drivers Dashboard</a:t>
            </a:r>
          </a:p>
        </p:txBody>
      </p:sp>
      <p:sp>
        <p:nvSpPr>
          <p:cNvPr id="3" name="Subtitle 2">
            <a:extLst>
              <a:ext uri="{FF2B5EF4-FFF2-40B4-BE49-F238E27FC236}">
                <a16:creationId xmlns:a16="http://schemas.microsoft.com/office/drawing/2014/main" id="{35315902-8479-B4D6-B0A3-BBAC393E9192}"/>
              </a:ext>
            </a:extLst>
          </p:cNvPr>
          <p:cNvSpPr>
            <a:spLocks noGrp="1"/>
          </p:cNvSpPr>
          <p:nvPr>
            <p:ph type="subTitle" idx="1"/>
          </p:nvPr>
        </p:nvSpPr>
        <p:spPr>
          <a:xfrm>
            <a:off x="703400" y="5103862"/>
            <a:ext cx="4172757" cy="845487"/>
          </a:xfrm>
        </p:spPr>
        <p:txBody>
          <a:bodyPr vert="horz" lIns="91440" tIns="45720" rIns="91440" bIns="45720" rtlCol="0" anchor="b">
            <a:normAutofit/>
          </a:bodyPr>
          <a:lstStyle/>
          <a:p>
            <a:r>
              <a:rPr lang="en-US" b="1"/>
              <a:t>A Data-Driven Exploration of Retail Performance</a:t>
            </a:r>
          </a:p>
        </p:txBody>
      </p:sp>
      <p:cxnSp>
        <p:nvCxnSpPr>
          <p:cNvPr id="24" name="Straight Connector 23">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32794C08-19AB-96BF-2412-02C864A94B84}"/>
              </a:ext>
            </a:extLst>
          </p:cNvPr>
          <p:cNvPicPr>
            <a:picLocks noChangeAspect="1"/>
          </p:cNvPicPr>
          <p:nvPr/>
        </p:nvPicPr>
        <p:blipFill>
          <a:blip r:embed="rId2"/>
          <a:srcRect l="35851"/>
          <a:stretch>
            <a:fillRect/>
          </a:stretch>
        </p:blipFill>
        <p:spPr>
          <a:xfrm>
            <a:off x="6326272" y="10"/>
            <a:ext cx="5865727" cy="6857990"/>
          </a:xfrm>
          <a:prstGeom prst="rect">
            <a:avLst/>
          </a:prstGeom>
        </p:spPr>
      </p:pic>
      <p:sp>
        <p:nvSpPr>
          <p:cNvPr id="4" name="Subtitle 2">
            <a:extLst>
              <a:ext uri="{FF2B5EF4-FFF2-40B4-BE49-F238E27FC236}">
                <a16:creationId xmlns:a16="http://schemas.microsoft.com/office/drawing/2014/main" id="{131EA511-B7AD-DA16-BD17-B62809247954}"/>
              </a:ext>
            </a:extLst>
          </p:cNvPr>
          <p:cNvSpPr txBox="1">
            <a:spLocks/>
          </p:cNvSpPr>
          <p:nvPr/>
        </p:nvSpPr>
        <p:spPr>
          <a:xfrm>
            <a:off x="1524000" y="3886200"/>
            <a:ext cx="9144000" cy="174811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NG" sz="2200"/>
              <a:t>Prepared by:</a:t>
            </a:r>
          </a:p>
          <a:p>
            <a:r>
              <a:rPr lang="en-NG" sz="2200"/>
              <a:t>Chukwudi Ekweani</a:t>
            </a:r>
          </a:p>
          <a:p>
            <a:r>
              <a:rPr lang="en-NG" sz="2200"/>
              <a:t>Tools used:</a:t>
            </a:r>
          </a:p>
          <a:p>
            <a:r>
              <a:rPr lang="en-GB" sz="2200"/>
              <a:t>P</a:t>
            </a:r>
            <a:r>
              <a:rPr lang="en-NG" sz="2200"/>
              <a:t>ower BI, Python</a:t>
            </a:r>
          </a:p>
        </p:txBody>
      </p:sp>
    </p:spTree>
    <p:extLst>
      <p:ext uri="{BB962C8B-B14F-4D97-AF65-F5344CB8AC3E}">
        <p14:creationId xmlns:p14="http://schemas.microsoft.com/office/powerpoint/2010/main" val="1539083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90029F-39CA-0A15-9119-3AE56F2148ED}"/>
              </a:ext>
            </a:extLst>
          </p:cNvPr>
          <p:cNvSpPr>
            <a:spLocks noGrp="1"/>
          </p:cNvSpPr>
          <p:nvPr>
            <p:ph type="title"/>
          </p:nvPr>
        </p:nvSpPr>
        <p:spPr>
          <a:xfrm>
            <a:off x="704088" y="914400"/>
            <a:ext cx="3914776" cy="3977269"/>
          </a:xfrm>
        </p:spPr>
        <p:txBody>
          <a:bodyPr>
            <a:normAutofit/>
          </a:bodyPr>
          <a:lstStyle/>
          <a:p>
            <a:r>
              <a:rPr lang="en-NG" dirty="0"/>
              <a:t>Executive summary</a:t>
            </a:r>
          </a:p>
        </p:txBody>
      </p:sp>
      <p:cxnSp>
        <p:nvCxnSpPr>
          <p:cNvPr id="11" name="Straight Connector 10">
            <a:extLst>
              <a:ext uri="{FF2B5EF4-FFF2-40B4-BE49-F238E27FC236}">
                <a16:creationId xmlns:a16="http://schemas.microsoft.com/office/drawing/2014/main" id="{4BFD5B9F-5FB6-467D-83D5-DF82F19073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524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D8C6D8AC-69EC-7D9C-2D86-B8AD5E1164F3}"/>
              </a:ext>
            </a:extLst>
          </p:cNvPr>
          <p:cNvGraphicFramePr>
            <a:graphicFrameLocks noGrp="1"/>
          </p:cNvGraphicFramePr>
          <p:nvPr>
            <p:ph idx="1"/>
            <p:extLst>
              <p:ext uri="{D42A27DB-BD31-4B8C-83A1-F6EECF244321}">
                <p14:modId xmlns:p14="http://schemas.microsoft.com/office/powerpoint/2010/main" val="3502514092"/>
              </p:ext>
            </p:extLst>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46445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C7DD03-E81E-17DC-CB50-BBAE6D141763}"/>
              </a:ext>
            </a:extLst>
          </p:cNvPr>
          <p:cNvSpPr>
            <a:spLocks noGrp="1"/>
          </p:cNvSpPr>
          <p:nvPr>
            <p:ph type="title"/>
          </p:nvPr>
        </p:nvSpPr>
        <p:spPr>
          <a:xfrm>
            <a:off x="685800" y="899024"/>
            <a:ext cx="3076032" cy="3914947"/>
          </a:xfrm>
        </p:spPr>
        <p:txBody>
          <a:bodyPr vert="horz" lIns="91440" tIns="45720" rIns="91440" bIns="45720" rtlCol="0" anchor="t">
            <a:normAutofit/>
          </a:bodyPr>
          <a:lstStyle/>
          <a:p>
            <a:r>
              <a:rPr lang="en-US" sz="3400"/>
              <a:t>Dataset and methodology</a:t>
            </a:r>
          </a:p>
        </p:txBody>
      </p:sp>
      <p:cxnSp>
        <p:nvCxnSpPr>
          <p:cNvPr id="24" name="Straight Connector 23">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2EACBF93-5D51-546D-B572-51C48F9D7A6E}"/>
              </a:ext>
            </a:extLst>
          </p:cNvPr>
          <p:cNvGraphicFramePr>
            <a:graphicFrameLocks noGrp="1"/>
          </p:cNvGraphicFramePr>
          <p:nvPr>
            <p:ph idx="1"/>
            <p:extLst>
              <p:ext uri="{D42A27DB-BD31-4B8C-83A1-F6EECF244321}">
                <p14:modId xmlns:p14="http://schemas.microsoft.com/office/powerpoint/2010/main" val="21361353"/>
              </p:ext>
            </p:extLst>
          </p:nvPr>
        </p:nvGraphicFramePr>
        <p:xfrm>
          <a:off x="5715000" y="723901"/>
          <a:ext cx="56769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4377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3C95145-31FC-1E1B-B5E7-6E7E2D19C528}"/>
              </a:ext>
            </a:extLst>
          </p:cNvPr>
          <p:cNvSpPr txBox="1"/>
          <p:nvPr/>
        </p:nvSpPr>
        <p:spPr>
          <a:xfrm>
            <a:off x="704088" y="914400"/>
            <a:ext cx="4041648" cy="1928741"/>
          </a:xfrm>
          <a:prstGeom prst="rect">
            <a:avLst/>
          </a:prstGeom>
        </p:spPr>
        <p:txBody>
          <a:bodyPr vert="horz" lIns="91440" tIns="45720" rIns="91440" bIns="45720" rtlCol="0" anchor="t">
            <a:normAutofit/>
          </a:bodyPr>
          <a:lstStyle/>
          <a:p>
            <a:pPr>
              <a:spcBef>
                <a:spcPct val="0"/>
              </a:spcBef>
              <a:spcAft>
                <a:spcPts val="600"/>
              </a:spcAft>
            </a:pPr>
            <a:r>
              <a:rPr lang="en-US" sz="4000" b="1" cap="all" spc="30">
                <a:latin typeface="+mj-lt"/>
                <a:ea typeface="+mj-ea"/>
                <a:cs typeface="+mj-cs"/>
              </a:rPr>
              <a:t>Methodology</a:t>
            </a:r>
          </a:p>
        </p:txBody>
      </p:sp>
      <p:cxnSp>
        <p:nvCxnSpPr>
          <p:cNvPr id="24" name="Straight Connector 23">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9" name="Content Placeholder 2">
            <a:extLst>
              <a:ext uri="{FF2B5EF4-FFF2-40B4-BE49-F238E27FC236}">
                <a16:creationId xmlns:a16="http://schemas.microsoft.com/office/drawing/2014/main" id="{BF268424-3087-0D9C-3282-44BC07309E7E}"/>
              </a:ext>
            </a:extLst>
          </p:cNvPr>
          <p:cNvGraphicFramePr>
            <a:graphicFrameLocks noGrp="1"/>
          </p:cNvGraphicFramePr>
          <p:nvPr>
            <p:ph idx="1"/>
            <p:extLst>
              <p:ext uri="{D42A27DB-BD31-4B8C-83A1-F6EECF244321}">
                <p14:modId xmlns:p14="http://schemas.microsoft.com/office/powerpoint/2010/main" val="1651673206"/>
              </p:ext>
            </p:extLst>
          </p:nvPr>
        </p:nvGraphicFramePr>
        <p:xfrm>
          <a:off x="5330952" y="968377"/>
          <a:ext cx="6144768"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25" name="Straight Connector 24">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45E5DE3C-F344-E0E4-E6B3-84635EE383B5}"/>
              </a:ext>
            </a:extLst>
          </p:cNvPr>
          <p:cNvGrpSpPr/>
          <p:nvPr/>
        </p:nvGrpSpPr>
        <p:grpSpPr>
          <a:xfrm>
            <a:off x="804671" y="4367351"/>
            <a:ext cx="3941065" cy="781429"/>
            <a:chOff x="750367" y="3009411"/>
            <a:chExt cx="10691265" cy="2119851"/>
          </a:xfrm>
        </p:grpSpPr>
        <p:sp>
          <p:nvSpPr>
            <p:cNvPr id="7" name="TextBox 6">
              <a:extLst>
                <a:ext uri="{FF2B5EF4-FFF2-40B4-BE49-F238E27FC236}">
                  <a16:creationId xmlns:a16="http://schemas.microsoft.com/office/drawing/2014/main" id="{F4FE6AB3-5156-4D0A-3B6A-A04F9710E4CF}"/>
                </a:ext>
              </a:extLst>
            </p:cNvPr>
            <p:cNvSpPr txBox="1"/>
            <p:nvPr/>
          </p:nvSpPr>
          <p:spPr>
            <a:xfrm>
              <a:off x="938295" y="3009411"/>
              <a:ext cx="5929745" cy="1252399"/>
            </a:xfrm>
            <a:prstGeom prst="rect">
              <a:avLst/>
            </a:prstGeom>
            <a:noFill/>
          </p:spPr>
          <p:txBody>
            <a:bodyPr wrap="square" rtlCol="0">
              <a:spAutoFit/>
            </a:bodyPr>
            <a:lstStyle/>
            <a:p>
              <a:pPr defTabSz="329184">
                <a:spcAft>
                  <a:spcPts val="600"/>
                </a:spcAft>
              </a:pPr>
              <a:r>
                <a:rPr lang="en-NG" sz="2400" b="1" kern="1200" dirty="0">
                  <a:solidFill>
                    <a:schemeClr val="tx1"/>
                  </a:solidFill>
                  <a:latin typeface="+mn-lt"/>
                  <a:ea typeface="+mn-ea"/>
                  <a:cs typeface="+mn-cs"/>
                </a:rPr>
                <a:t>Tools Used</a:t>
              </a:r>
              <a:endParaRPr lang="en-NG" sz="2400" b="1" dirty="0"/>
            </a:p>
          </p:txBody>
        </p:sp>
        <p:sp>
          <p:nvSpPr>
            <p:cNvPr id="9" name="Content Placeholder 2">
              <a:extLst>
                <a:ext uri="{FF2B5EF4-FFF2-40B4-BE49-F238E27FC236}">
                  <a16:creationId xmlns:a16="http://schemas.microsoft.com/office/drawing/2014/main" id="{2C424851-3162-B985-7E61-9608B435DA17}"/>
                </a:ext>
              </a:extLst>
            </p:cNvPr>
            <p:cNvSpPr txBox="1">
              <a:spLocks/>
            </p:cNvSpPr>
            <p:nvPr/>
          </p:nvSpPr>
          <p:spPr>
            <a:xfrm>
              <a:off x="750367" y="4111468"/>
              <a:ext cx="10691265" cy="101779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2296" indent="-82296" defTabSz="329184">
                <a:lnSpc>
                  <a:spcPct val="100000"/>
                </a:lnSpc>
                <a:spcBef>
                  <a:spcPts val="360"/>
                </a:spcBef>
              </a:pPr>
              <a:r>
                <a:rPr lang="en-NG" kern="1200" dirty="0">
                  <a:solidFill>
                    <a:schemeClr val="tx1"/>
                  </a:solidFill>
                  <a:latin typeface="+mn-lt"/>
                  <a:ea typeface="+mn-ea"/>
                  <a:cs typeface="+mn-cs"/>
                </a:rPr>
                <a:t>Python for EDA (Exploratory Data Analysis)</a:t>
              </a:r>
            </a:p>
            <a:p>
              <a:pPr marL="82296" indent="-82296" defTabSz="329184">
                <a:lnSpc>
                  <a:spcPct val="100000"/>
                </a:lnSpc>
                <a:spcBef>
                  <a:spcPts val="360"/>
                </a:spcBef>
              </a:pPr>
              <a:r>
                <a:rPr lang="en-NG" kern="1200" dirty="0">
                  <a:solidFill>
                    <a:schemeClr val="tx1"/>
                  </a:solidFill>
                  <a:latin typeface="+mn-lt"/>
                  <a:ea typeface="+mn-ea"/>
                  <a:cs typeface="+mn-cs"/>
                </a:rPr>
                <a:t>Power BI for dashboarding</a:t>
              </a:r>
              <a:endParaRPr lang="en-NG" dirty="0"/>
            </a:p>
          </p:txBody>
        </p:sp>
      </p:grpSp>
    </p:spTree>
    <p:extLst>
      <p:ext uri="{BB962C8B-B14F-4D97-AF65-F5344CB8AC3E}">
        <p14:creationId xmlns:p14="http://schemas.microsoft.com/office/powerpoint/2010/main" val="639565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8AB18-354B-D1EE-940A-6FE48090F4D9}"/>
              </a:ext>
            </a:extLst>
          </p:cNvPr>
          <p:cNvSpPr>
            <a:spLocks noGrp="1"/>
          </p:cNvSpPr>
          <p:nvPr>
            <p:ph type="title"/>
          </p:nvPr>
        </p:nvSpPr>
        <p:spPr/>
        <p:txBody>
          <a:bodyPr/>
          <a:lstStyle/>
          <a:p>
            <a:r>
              <a:rPr lang="en-GB" dirty="0"/>
              <a:t>K</a:t>
            </a:r>
            <a:r>
              <a:rPr lang="en-NG" dirty="0"/>
              <a:t>pi overview (page 1)</a:t>
            </a:r>
          </a:p>
        </p:txBody>
      </p:sp>
      <p:pic>
        <p:nvPicPr>
          <p:cNvPr id="9" name="Content Placeholder 8" descr="A blue and grey square with black text&#10;&#10;AI-generated content may be incorrect.">
            <a:extLst>
              <a:ext uri="{FF2B5EF4-FFF2-40B4-BE49-F238E27FC236}">
                <a16:creationId xmlns:a16="http://schemas.microsoft.com/office/drawing/2014/main" id="{7EA7BFC4-73AE-5F74-10B8-DD15AC063A51}"/>
              </a:ext>
            </a:extLst>
          </p:cNvPr>
          <p:cNvPicPr>
            <a:picLocks noGrp="1" noChangeAspect="1"/>
          </p:cNvPicPr>
          <p:nvPr>
            <p:ph idx="1"/>
          </p:nvPr>
        </p:nvPicPr>
        <p:blipFill>
          <a:blip r:embed="rId2"/>
          <a:stretch>
            <a:fillRect/>
          </a:stretch>
        </p:blipFill>
        <p:spPr>
          <a:xfrm>
            <a:off x="700088" y="1772188"/>
            <a:ext cx="9538421" cy="1478082"/>
          </a:xfrm>
        </p:spPr>
      </p:pic>
      <p:sp>
        <p:nvSpPr>
          <p:cNvPr id="10" name="TextBox 9">
            <a:extLst>
              <a:ext uri="{FF2B5EF4-FFF2-40B4-BE49-F238E27FC236}">
                <a16:creationId xmlns:a16="http://schemas.microsoft.com/office/drawing/2014/main" id="{9F9FAADD-B3E4-9EAB-FDE7-D74DC3A70109}"/>
              </a:ext>
            </a:extLst>
          </p:cNvPr>
          <p:cNvSpPr txBox="1"/>
          <p:nvPr/>
        </p:nvSpPr>
        <p:spPr>
          <a:xfrm>
            <a:off x="700088" y="3369394"/>
            <a:ext cx="4523076" cy="1477328"/>
          </a:xfrm>
          <a:prstGeom prst="rect">
            <a:avLst/>
          </a:prstGeom>
          <a:noFill/>
        </p:spPr>
        <p:txBody>
          <a:bodyPr wrap="square" rtlCol="0">
            <a:spAutoFit/>
          </a:bodyPr>
          <a:lstStyle/>
          <a:p>
            <a:r>
              <a:rPr lang="en-NG" b="1" dirty="0"/>
              <a:t>Key Highlights:</a:t>
            </a:r>
          </a:p>
          <a:p>
            <a:pPr marL="285750" indent="-285750">
              <a:buFontTx/>
              <a:buChar char="-"/>
            </a:pPr>
            <a:r>
              <a:rPr lang="en-NG" dirty="0"/>
              <a:t>Total Revenue: $3.8M</a:t>
            </a:r>
          </a:p>
          <a:p>
            <a:pPr marL="285750" indent="-285750">
              <a:buFontTx/>
              <a:buChar char="-"/>
            </a:pPr>
            <a:r>
              <a:rPr lang="en-NG" dirty="0"/>
              <a:t>Total Orders: 5,000</a:t>
            </a:r>
          </a:p>
          <a:p>
            <a:pPr marL="285750" indent="-285750">
              <a:buFontTx/>
              <a:buChar char="-"/>
            </a:pPr>
            <a:r>
              <a:rPr lang="en-NG" dirty="0"/>
              <a:t>Average Order Value (AOV): $761.80</a:t>
            </a:r>
          </a:p>
          <a:p>
            <a:pPr marL="285750" indent="-285750">
              <a:buFontTx/>
              <a:buChar char="-"/>
            </a:pPr>
            <a:r>
              <a:rPr lang="en-NG" dirty="0"/>
              <a:t>% Revenue from Top 5 Products: 46%</a:t>
            </a:r>
          </a:p>
        </p:txBody>
      </p:sp>
      <p:sp>
        <p:nvSpPr>
          <p:cNvPr id="11" name="TextBox 10">
            <a:extLst>
              <a:ext uri="{FF2B5EF4-FFF2-40B4-BE49-F238E27FC236}">
                <a16:creationId xmlns:a16="http://schemas.microsoft.com/office/drawing/2014/main" id="{F18555CB-AE88-ABAB-E87F-194B449CE64E}"/>
              </a:ext>
            </a:extLst>
          </p:cNvPr>
          <p:cNvSpPr txBox="1"/>
          <p:nvPr/>
        </p:nvSpPr>
        <p:spPr>
          <a:xfrm>
            <a:off x="700088" y="4965846"/>
            <a:ext cx="10363200" cy="923330"/>
          </a:xfrm>
          <a:prstGeom prst="rect">
            <a:avLst/>
          </a:prstGeom>
          <a:noFill/>
        </p:spPr>
        <p:txBody>
          <a:bodyPr wrap="square" rtlCol="0">
            <a:spAutoFit/>
          </a:bodyPr>
          <a:lstStyle/>
          <a:p>
            <a:r>
              <a:rPr lang="en-NG" b="1" dirty="0"/>
              <a:t>Insight:</a:t>
            </a:r>
          </a:p>
          <a:p>
            <a:r>
              <a:rPr lang="en-NG" dirty="0"/>
              <a:t>The revenue is highly concentrate. Almost half of the revenue is coming from only five of the products being sold, signaling overdepence on these products. This is risky for the business.</a:t>
            </a:r>
          </a:p>
        </p:txBody>
      </p:sp>
    </p:spTree>
    <p:extLst>
      <p:ext uri="{BB962C8B-B14F-4D97-AF65-F5344CB8AC3E}">
        <p14:creationId xmlns:p14="http://schemas.microsoft.com/office/powerpoint/2010/main" val="2962450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D8D891-C8C5-D7FB-FD1D-B9D1090F4F3F}"/>
              </a:ext>
            </a:extLst>
          </p:cNvPr>
          <p:cNvSpPr>
            <a:spLocks noGrp="1"/>
          </p:cNvSpPr>
          <p:nvPr>
            <p:ph type="title"/>
          </p:nvPr>
        </p:nvSpPr>
        <p:spPr>
          <a:xfrm>
            <a:off x="704088" y="555712"/>
            <a:ext cx="3721629" cy="5617672"/>
          </a:xfrm>
        </p:spPr>
        <p:txBody>
          <a:bodyPr>
            <a:normAutofit/>
          </a:bodyPr>
          <a:lstStyle/>
          <a:p>
            <a:r>
              <a:rPr lang="en-GB"/>
              <a:t>R</a:t>
            </a:r>
            <a:r>
              <a:rPr lang="en-NG"/>
              <a:t>evenue by category</a:t>
            </a:r>
            <a:endParaRPr lang="en-NG" dirty="0"/>
          </a:p>
        </p:txBody>
      </p:sp>
      <p:cxnSp>
        <p:nvCxnSpPr>
          <p:cNvPr id="54" name="Straight Connector 53">
            <a:extLst>
              <a:ext uri="{FF2B5EF4-FFF2-40B4-BE49-F238E27FC236}">
                <a16:creationId xmlns:a16="http://schemas.microsoft.com/office/drawing/2014/main" id="{40ADC89C-EB4E-4AA5-ABBD-448BEC5FA3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76800" y="723900"/>
            <a:ext cx="0" cy="54494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graph showing a product category&#10;&#10;AI-generated content may be incorrect.">
            <a:extLst>
              <a:ext uri="{FF2B5EF4-FFF2-40B4-BE49-F238E27FC236}">
                <a16:creationId xmlns:a16="http://schemas.microsoft.com/office/drawing/2014/main" id="{2DE35424-BA1C-7CF3-CFFB-8B51F3334502}"/>
              </a:ext>
            </a:extLst>
          </p:cNvPr>
          <p:cNvPicPr>
            <a:picLocks noChangeAspect="1"/>
          </p:cNvPicPr>
          <p:nvPr/>
        </p:nvPicPr>
        <p:blipFill>
          <a:blip r:embed="rId2"/>
          <a:srcRect r="-1" b="1836"/>
          <a:stretch>
            <a:fillRect/>
          </a:stretch>
        </p:blipFill>
        <p:spPr>
          <a:xfrm>
            <a:off x="5672665" y="555712"/>
            <a:ext cx="5719230" cy="2568488"/>
          </a:xfrm>
          <a:prstGeom prst="rect">
            <a:avLst/>
          </a:prstGeom>
        </p:spPr>
      </p:pic>
      <p:sp>
        <p:nvSpPr>
          <p:cNvPr id="44" name="Content Placeholder 8">
            <a:extLst>
              <a:ext uri="{FF2B5EF4-FFF2-40B4-BE49-F238E27FC236}">
                <a16:creationId xmlns:a16="http://schemas.microsoft.com/office/drawing/2014/main" id="{263FE7A6-C9A5-2CDE-0A00-270DB1E67C7B}"/>
              </a:ext>
            </a:extLst>
          </p:cNvPr>
          <p:cNvSpPr>
            <a:spLocks noGrp="1"/>
          </p:cNvSpPr>
          <p:nvPr>
            <p:ph idx="1"/>
          </p:nvPr>
        </p:nvSpPr>
        <p:spPr>
          <a:xfrm>
            <a:off x="5576419" y="3368485"/>
            <a:ext cx="5920256" cy="2804899"/>
          </a:xfrm>
        </p:spPr>
        <p:txBody>
          <a:bodyPr>
            <a:normAutofit/>
          </a:bodyPr>
          <a:lstStyle/>
          <a:p>
            <a:pPr marL="0" indent="0">
              <a:lnSpc>
                <a:spcPct val="100000"/>
              </a:lnSpc>
              <a:buNone/>
            </a:pPr>
            <a:r>
              <a:rPr lang="en-US" sz="1400" b="1"/>
              <a:t>Insights:</a:t>
            </a:r>
          </a:p>
          <a:p>
            <a:pPr>
              <a:lnSpc>
                <a:spcPct val="100000"/>
              </a:lnSpc>
            </a:pPr>
            <a:r>
              <a:rPr lang="en-US" sz="1400"/>
              <a:t>Office supplies are the major revenue drivers with a total revenue of ~$3.0M</a:t>
            </a:r>
          </a:p>
          <a:p>
            <a:pPr>
              <a:lnSpc>
                <a:spcPct val="100000"/>
              </a:lnSpc>
            </a:pPr>
            <a:r>
              <a:rPr lang="en-US" sz="1400"/>
              <a:t>Technology contributes about $700k, while furniture contributes about $100k</a:t>
            </a:r>
          </a:p>
          <a:p>
            <a:pPr>
              <a:lnSpc>
                <a:spcPct val="100000"/>
              </a:lnSpc>
            </a:pPr>
            <a:r>
              <a:rPr lang="en-US" sz="1400"/>
              <a:t>Business is highly dependent on a singly product category.</a:t>
            </a:r>
          </a:p>
          <a:p>
            <a:pPr>
              <a:lnSpc>
                <a:spcPct val="100000"/>
              </a:lnSpc>
            </a:pPr>
            <a:r>
              <a:rPr lang="en-NG" sz="1400" b="1"/>
              <a:t>Implication:</a:t>
            </a:r>
          </a:p>
          <a:p>
            <a:pPr>
              <a:lnSpc>
                <a:spcPct val="100000"/>
              </a:lnSpc>
            </a:pPr>
            <a:r>
              <a:rPr lang="en-NG" sz="1400"/>
              <a:t>It is important that the business diversifies to prevent overdependence on a singly product category</a:t>
            </a:r>
          </a:p>
          <a:p>
            <a:pPr marL="0" indent="0">
              <a:lnSpc>
                <a:spcPct val="100000"/>
              </a:lnSpc>
              <a:buNone/>
            </a:pPr>
            <a:endParaRPr lang="en-US" sz="1400"/>
          </a:p>
        </p:txBody>
      </p:sp>
    </p:spTree>
    <p:extLst>
      <p:ext uri="{BB962C8B-B14F-4D97-AF65-F5344CB8AC3E}">
        <p14:creationId xmlns:p14="http://schemas.microsoft.com/office/powerpoint/2010/main" val="178603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28C183-1B4D-B1AC-E38B-E1C26A64BF3C}"/>
              </a:ext>
            </a:extLst>
          </p:cNvPr>
          <p:cNvSpPr>
            <a:spLocks noGrp="1"/>
          </p:cNvSpPr>
          <p:nvPr>
            <p:ph type="title"/>
          </p:nvPr>
        </p:nvSpPr>
        <p:spPr>
          <a:xfrm>
            <a:off x="704088" y="914400"/>
            <a:ext cx="10780776" cy="1180210"/>
          </a:xfrm>
        </p:spPr>
        <p:txBody>
          <a:bodyPr>
            <a:normAutofit/>
          </a:bodyPr>
          <a:lstStyle/>
          <a:p>
            <a:r>
              <a:rPr lang="en-GB"/>
              <a:t>T</a:t>
            </a:r>
            <a:r>
              <a:rPr lang="en-NG"/>
              <a:t>op product analysis</a:t>
            </a:r>
            <a:endParaRPr lang="en-NG" dirty="0"/>
          </a:p>
        </p:txBody>
      </p:sp>
      <p:cxnSp>
        <p:nvCxnSpPr>
          <p:cNvPr id="31" name="Straight Connector 30">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graph with blue bars&#10;&#10;AI-generated content may be incorrect.">
            <a:extLst>
              <a:ext uri="{FF2B5EF4-FFF2-40B4-BE49-F238E27FC236}">
                <a16:creationId xmlns:a16="http://schemas.microsoft.com/office/drawing/2014/main" id="{606FBDEF-B81F-774B-9A16-C806ADC228EB}"/>
              </a:ext>
            </a:extLst>
          </p:cNvPr>
          <p:cNvPicPr>
            <a:picLocks noChangeAspect="1"/>
          </p:cNvPicPr>
          <p:nvPr/>
        </p:nvPicPr>
        <p:blipFill>
          <a:blip r:embed="rId2"/>
          <a:stretch>
            <a:fillRect/>
          </a:stretch>
        </p:blipFill>
        <p:spPr>
          <a:xfrm>
            <a:off x="800098" y="3152233"/>
            <a:ext cx="5549902" cy="3010821"/>
          </a:xfrm>
          <a:prstGeom prst="rect">
            <a:avLst/>
          </a:prstGeom>
        </p:spPr>
      </p:pic>
      <p:sp>
        <p:nvSpPr>
          <p:cNvPr id="9" name="Content Placeholder 8">
            <a:extLst>
              <a:ext uri="{FF2B5EF4-FFF2-40B4-BE49-F238E27FC236}">
                <a16:creationId xmlns:a16="http://schemas.microsoft.com/office/drawing/2014/main" id="{D5B1BA85-D476-7B14-0DF2-6E79B2C361D8}"/>
              </a:ext>
            </a:extLst>
          </p:cNvPr>
          <p:cNvSpPr>
            <a:spLocks noGrp="1"/>
          </p:cNvSpPr>
          <p:nvPr>
            <p:ph idx="1"/>
          </p:nvPr>
        </p:nvSpPr>
        <p:spPr>
          <a:xfrm>
            <a:off x="6664960" y="2346960"/>
            <a:ext cx="4819903" cy="3775456"/>
          </a:xfrm>
        </p:spPr>
        <p:txBody>
          <a:bodyPr>
            <a:normAutofit/>
          </a:bodyPr>
          <a:lstStyle/>
          <a:p>
            <a:pPr marL="0" indent="0">
              <a:lnSpc>
                <a:spcPct val="100000"/>
              </a:lnSpc>
              <a:buNone/>
            </a:pPr>
            <a:r>
              <a:rPr lang="en-US" b="1" dirty="0"/>
              <a:t>Insights</a:t>
            </a:r>
            <a:r>
              <a:rPr lang="en-US" dirty="0"/>
              <a:t>:</a:t>
            </a:r>
          </a:p>
          <a:p>
            <a:pPr>
              <a:lnSpc>
                <a:spcPct val="100000"/>
              </a:lnSpc>
            </a:pPr>
            <a:r>
              <a:rPr lang="en-US" dirty="0"/>
              <a:t>The top products alone contribute to 18.6% of total revenue.</a:t>
            </a:r>
          </a:p>
          <a:p>
            <a:pPr>
              <a:lnSpc>
                <a:spcPct val="100000"/>
              </a:lnSpc>
            </a:pPr>
            <a:r>
              <a:rPr lang="en-US" dirty="0"/>
              <a:t>The top 2 product generate over $1.2M combined.</a:t>
            </a:r>
          </a:p>
          <a:p>
            <a:pPr marL="0" indent="0">
              <a:lnSpc>
                <a:spcPct val="100000"/>
              </a:lnSpc>
              <a:buNone/>
            </a:pPr>
            <a:endParaRPr lang="en-US" dirty="0"/>
          </a:p>
          <a:p>
            <a:pPr marL="0" indent="0">
              <a:lnSpc>
                <a:spcPct val="100000"/>
              </a:lnSpc>
              <a:buNone/>
            </a:pPr>
            <a:r>
              <a:rPr lang="en-US" b="1" dirty="0"/>
              <a:t>Implication</a:t>
            </a:r>
            <a:r>
              <a:rPr lang="en-US" dirty="0"/>
              <a:t>:</a:t>
            </a:r>
          </a:p>
          <a:p>
            <a:pPr marL="0" indent="0">
              <a:lnSpc>
                <a:spcPct val="100000"/>
              </a:lnSpc>
              <a:buNone/>
            </a:pPr>
            <a:r>
              <a:rPr lang="en-US" dirty="0"/>
              <a:t>Secure supply, pricing strategy and promotion of top item is important to maintain the revenue these products pull.</a:t>
            </a:r>
          </a:p>
        </p:txBody>
      </p:sp>
    </p:spTree>
    <p:extLst>
      <p:ext uri="{BB962C8B-B14F-4D97-AF65-F5344CB8AC3E}">
        <p14:creationId xmlns:p14="http://schemas.microsoft.com/office/powerpoint/2010/main" val="2638320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BD6844-46C0-EBE7-EDD2-FD245960A7FF}"/>
              </a:ext>
            </a:extLst>
          </p:cNvPr>
          <p:cNvSpPr>
            <a:spLocks noGrp="1"/>
          </p:cNvSpPr>
          <p:nvPr>
            <p:ph type="title"/>
          </p:nvPr>
        </p:nvSpPr>
        <p:spPr>
          <a:xfrm>
            <a:off x="704088" y="914400"/>
            <a:ext cx="10780776" cy="1180210"/>
          </a:xfrm>
        </p:spPr>
        <p:txBody>
          <a:bodyPr>
            <a:normAutofit/>
          </a:bodyPr>
          <a:lstStyle/>
          <a:p>
            <a:r>
              <a:rPr lang="en-GB" dirty="0"/>
              <a:t>R</a:t>
            </a:r>
            <a:r>
              <a:rPr lang="en-NG" dirty="0"/>
              <a:t>evenue by price range</a:t>
            </a:r>
          </a:p>
        </p:txBody>
      </p:sp>
      <p:cxnSp>
        <p:nvCxnSpPr>
          <p:cNvPr id="17" name="Straight Connector 16">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blue squares with white text&#10;&#10;AI-generated content may be incorrect.">
            <a:extLst>
              <a:ext uri="{FF2B5EF4-FFF2-40B4-BE49-F238E27FC236}">
                <a16:creationId xmlns:a16="http://schemas.microsoft.com/office/drawing/2014/main" id="{22E0A25B-C323-E881-6263-C61770FB889C}"/>
              </a:ext>
            </a:extLst>
          </p:cNvPr>
          <p:cNvPicPr>
            <a:picLocks noChangeAspect="1"/>
          </p:cNvPicPr>
          <p:nvPr/>
        </p:nvPicPr>
        <p:blipFill>
          <a:blip r:embed="rId2"/>
          <a:stretch>
            <a:fillRect/>
          </a:stretch>
        </p:blipFill>
        <p:spPr>
          <a:xfrm>
            <a:off x="800098" y="4294909"/>
            <a:ext cx="5549902" cy="1868144"/>
          </a:xfrm>
          <a:prstGeom prst="rect">
            <a:avLst/>
          </a:prstGeom>
        </p:spPr>
      </p:pic>
      <p:sp>
        <p:nvSpPr>
          <p:cNvPr id="18" name="Content Placeholder 8">
            <a:extLst>
              <a:ext uri="{FF2B5EF4-FFF2-40B4-BE49-F238E27FC236}">
                <a16:creationId xmlns:a16="http://schemas.microsoft.com/office/drawing/2014/main" id="{0D7701F7-5A92-F002-69C7-40996DE7AF33}"/>
              </a:ext>
            </a:extLst>
          </p:cNvPr>
          <p:cNvSpPr>
            <a:spLocks noGrp="1"/>
          </p:cNvSpPr>
          <p:nvPr>
            <p:ph idx="1"/>
          </p:nvPr>
        </p:nvSpPr>
        <p:spPr>
          <a:xfrm>
            <a:off x="6664960" y="2346960"/>
            <a:ext cx="4819903" cy="3775456"/>
          </a:xfrm>
        </p:spPr>
        <p:txBody>
          <a:bodyPr>
            <a:normAutofit fontScale="85000" lnSpcReduction="10000"/>
          </a:bodyPr>
          <a:lstStyle/>
          <a:p>
            <a:pPr marL="0" indent="0">
              <a:buNone/>
            </a:pPr>
            <a:r>
              <a:rPr lang="en-US" b="1" dirty="0"/>
              <a:t>Insights</a:t>
            </a:r>
            <a:r>
              <a:rPr lang="en-US" dirty="0"/>
              <a:t>:</a:t>
            </a:r>
          </a:p>
          <a:p>
            <a:r>
              <a:rPr lang="en-US" dirty="0"/>
              <a:t>High-priced products generate the most revenue.</a:t>
            </a:r>
          </a:p>
          <a:p>
            <a:r>
              <a:rPr lang="en-US" dirty="0"/>
              <a:t>Low-priced products though sells a lot but generate less revenue.</a:t>
            </a:r>
          </a:p>
          <a:p>
            <a:r>
              <a:rPr lang="en-US" dirty="0"/>
              <a:t>Mid-tier products (i.e. in the range of $100 to $399) show strong revenue by product.</a:t>
            </a:r>
          </a:p>
          <a:p>
            <a:pPr marL="0" indent="0">
              <a:buNone/>
            </a:pPr>
            <a:endParaRPr lang="en-US" dirty="0"/>
          </a:p>
          <a:p>
            <a:pPr marL="0" indent="0">
              <a:buNone/>
            </a:pPr>
            <a:r>
              <a:rPr lang="en-US" b="1" dirty="0"/>
              <a:t>Implication</a:t>
            </a:r>
            <a:r>
              <a:rPr lang="en-US" dirty="0"/>
              <a:t>:</a:t>
            </a:r>
          </a:p>
          <a:p>
            <a:pPr marL="0" indent="0">
              <a:buNone/>
            </a:pPr>
            <a:r>
              <a:rPr lang="en-US" dirty="0"/>
              <a:t>There is an opportunity to promote mid-tier product and use the low-priced products and bundles.</a:t>
            </a:r>
          </a:p>
        </p:txBody>
      </p:sp>
    </p:spTree>
    <p:extLst>
      <p:ext uri="{BB962C8B-B14F-4D97-AF65-F5344CB8AC3E}">
        <p14:creationId xmlns:p14="http://schemas.microsoft.com/office/powerpoint/2010/main" val="1583127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FF92FA-999A-20CD-008E-398AC254C520}"/>
              </a:ext>
            </a:extLst>
          </p:cNvPr>
          <p:cNvSpPr>
            <a:spLocks noGrp="1"/>
          </p:cNvSpPr>
          <p:nvPr>
            <p:ph type="title"/>
          </p:nvPr>
        </p:nvSpPr>
        <p:spPr>
          <a:xfrm>
            <a:off x="704088" y="914400"/>
            <a:ext cx="10687812" cy="798194"/>
          </a:xfrm>
        </p:spPr>
        <p:txBody>
          <a:bodyPr>
            <a:normAutofit/>
          </a:bodyPr>
          <a:lstStyle/>
          <a:p>
            <a:r>
              <a:rPr lang="en-GB" dirty="0"/>
              <a:t>C</a:t>
            </a:r>
            <a:r>
              <a:rPr lang="en-NG" dirty="0"/>
              <a:t>ustomer insights</a:t>
            </a:r>
          </a:p>
        </p:txBody>
      </p:sp>
      <p:cxnSp>
        <p:nvCxnSpPr>
          <p:cNvPr id="25" name="Straight Connector 24">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screenshot of a map&#10;&#10;AI-generated content may be incorrect.">
            <a:extLst>
              <a:ext uri="{FF2B5EF4-FFF2-40B4-BE49-F238E27FC236}">
                <a16:creationId xmlns:a16="http://schemas.microsoft.com/office/drawing/2014/main" id="{7CA8B575-D7AC-6407-3D5B-C8BA199557B8}"/>
              </a:ext>
            </a:extLst>
          </p:cNvPr>
          <p:cNvPicPr>
            <a:picLocks noChangeAspect="1"/>
          </p:cNvPicPr>
          <p:nvPr/>
        </p:nvPicPr>
        <p:blipFill>
          <a:blip r:embed="rId2"/>
          <a:stretch>
            <a:fillRect/>
          </a:stretch>
        </p:blipFill>
        <p:spPr>
          <a:xfrm>
            <a:off x="800100" y="2578277"/>
            <a:ext cx="6072188" cy="3430786"/>
          </a:xfrm>
          <a:prstGeom prst="rect">
            <a:avLst/>
          </a:prstGeom>
        </p:spPr>
      </p:pic>
      <p:sp>
        <p:nvSpPr>
          <p:cNvPr id="9" name="Content Placeholder 8">
            <a:extLst>
              <a:ext uri="{FF2B5EF4-FFF2-40B4-BE49-F238E27FC236}">
                <a16:creationId xmlns:a16="http://schemas.microsoft.com/office/drawing/2014/main" id="{B6DA1AD7-D9F7-2757-26CA-D445601B9B04}"/>
              </a:ext>
            </a:extLst>
          </p:cNvPr>
          <p:cNvSpPr>
            <a:spLocks noGrp="1"/>
          </p:cNvSpPr>
          <p:nvPr>
            <p:ph idx="1"/>
          </p:nvPr>
        </p:nvSpPr>
        <p:spPr>
          <a:xfrm>
            <a:off x="7200900" y="1849121"/>
            <a:ext cx="4191001" cy="4139626"/>
          </a:xfrm>
        </p:spPr>
        <p:txBody>
          <a:bodyPr anchor="b">
            <a:normAutofit/>
          </a:bodyPr>
          <a:lstStyle/>
          <a:p>
            <a:pPr marL="0" indent="0">
              <a:lnSpc>
                <a:spcPct val="100000"/>
              </a:lnSpc>
              <a:buNone/>
            </a:pPr>
            <a:r>
              <a:rPr lang="en-US" sz="1900" b="1"/>
              <a:t>Findings:</a:t>
            </a:r>
          </a:p>
          <a:p>
            <a:pPr>
              <a:lnSpc>
                <a:spcPct val="100000"/>
              </a:lnSpc>
            </a:pPr>
            <a:r>
              <a:rPr lang="en-US" sz="1900"/>
              <a:t>Sydney contributes significantly more revenue that Melbourne</a:t>
            </a:r>
          </a:p>
          <a:p>
            <a:pPr>
              <a:lnSpc>
                <a:spcPct val="100000"/>
              </a:lnSpc>
            </a:pPr>
            <a:r>
              <a:rPr lang="en-US" sz="1900"/>
              <a:t>The total number of customers is 788</a:t>
            </a:r>
          </a:p>
          <a:p>
            <a:pPr>
              <a:lnSpc>
                <a:spcPct val="100000"/>
              </a:lnSpc>
            </a:pPr>
            <a:r>
              <a:rPr lang="en-US" sz="1900"/>
              <a:t>The average revenue per customer is $4.8k</a:t>
            </a:r>
          </a:p>
          <a:p>
            <a:pPr marL="0" indent="0">
              <a:lnSpc>
                <a:spcPct val="100000"/>
              </a:lnSpc>
              <a:buNone/>
            </a:pPr>
            <a:endParaRPr lang="en-US" sz="1900"/>
          </a:p>
          <a:p>
            <a:pPr marL="0" indent="0">
              <a:lnSpc>
                <a:spcPct val="100000"/>
              </a:lnSpc>
              <a:buNone/>
            </a:pPr>
            <a:r>
              <a:rPr lang="en-US" sz="1900" b="1"/>
              <a:t>Implication:</a:t>
            </a:r>
          </a:p>
          <a:p>
            <a:pPr marL="0" indent="0">
              <a:lnSpc>
                <a:spcPct val="100000"/>
              </a:lnSpc>
              <a:buNone/>
            </a:pPr>
            <a:r>
              <a:rPr lang="en-US" sz="1900"/>
              <a:t>Focus on customer loyalty, segmentation and retention strategies.</a:t>
            </a:r>
          </a:p>
        </p:txBody>
      </p:sp>
      <p:cxnSp>
        <p:nvCxnSpPr>
          <p:cNvPr id="23" name="Straight Connector 22">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9597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94E15A-2226-BC5B-487D-C6FADCFAF41A}"/>
              </a:ext>
            </a:extLst>
          </p:cNvPr>
          <p:cNvSpPr>
            <a:spLocks noGrp="1"/>
          </p:cNvSpPr>
          <p:nvPr>
            <p:ph type="title"/>
          </p:nvPr>
        </p:nvSpPr>
        <p:spPr>
          <a:xfrm>
            <a:off x="704088" y="914400"/>
            <a:ext cx="10687812" cy="798194"/>
          </a:xfrm>
        </p:spPr>
        <p:txBody>
          <a:bodyPr>
            <a:normAutofit/>
          </a:bodyPr>
          <a:lstStyle/>
          <a:p>
            <a:r>
              <a:rPr lang="en-NG" dirty="0"/>
              <a:t>Monthly trend analysis</a:t>
            </a:r>
          </a:p>
        </p:txBody>
      </p:sp>
      <p:cxnSp>
        <p:nvCxnSpPr>
          <p:cNvPr id="14" name="Straight Connector 13">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blue line on a white background&#10;&#10;AI-generated content may be incorrect.">
            <a:extLst>
              <a:ext uri="{FF2B5EF4-FFF2-40B4-BE49-F238E27FC236}">
                <a16:creationId xmlns:a16="http://schemas.microsoft.com/office/drawing/2014/main" id="{0DBB6FBD-F097-E034-B1AC-48D07F7B18FC}"/>
              </a:ext>
            </a:extLst>
          </p:cNvPr>
          <p:cNvPicPr>
            <a:picLocks noChangeAspect="1"/>
          </p:cNvPicPr>
          <p:nvPr/>
        </p:nvPicPr>
        <p:blipFill>
          <a:blip r:embed="rId2"/>
          <a:stretch>
            <a:fillRect/>
          </a:stretch>
        </p:blipFill>
        <p:spPr>
          <a:xfrm>
            <a:off x="800100" y="4502733"/>
            <a:ext cx="6072188" cy="1506332"/>
          </a:xfrm>
          <a:prstGeom prst="rect">
            <a:avLst/>
          </a:prstGeom>
        </p:spPr>
      </p:pic>
      <p:sp>
        <p:nvSpPr>
          <p:cNvPr id="9" name="Content Placeholder 8">
            <a:extLst>
              <a:ext uri="{FF2B5EF4-FFF2-40B4-BE49-F238E27FC236}">
                <a16:creationId xmlns:a16="http://schemas.microsoft.com/office/drawing/2014/main" id="{F16F57E7-AF20-BE3D-1798-41C0E968891A}"/>
              </a:ext>
            </a:extLst>
          </p:cNvPr>
          <p:cNvSpPr>
            <a:spLocks noGrp="1"/>
          </p:cNvSpPr>
          <p:nvPr>
            <p:ph idx="1"/>
          </p:nvPr>
        </p:nvSpPr>
        <p:spPr>
          <a:xfrm>
            <a:off x="7200900" y="1849121"/>
            <a:ext cx="4191001" cy="4139626"/>
          </a:xfrm>
        </p:spPr>
        <p:txBody>
          <a:bodyPr anchor="b">
            <a:normAutofit/>
          </a:bodyPr>
          <a:lstStyle/>
          <a:p>
            <a:pPr marL="0" indent="0">
              <a:buNone/>
            </a:pPr>
            <a:r>
              <a:rPr lang="en-US" b="1" dirty="0"/>
              <a:t>Insights:</a:t>
            </a:r>
          </a:p>
          <a:p>
            <a:r>
              <a:rPr lang="en-US" dirty="0"/>
              <a:t>Revenue shows spikes around mid-year</a:t>
            </a:r>
          </a:p>
          <a:p>
            <a:r>
              <a:rPr lang="en-US" dirty="0"/>
              <a:t>This seasonal peaks indicates the perfect time to begin targeted promotions</a:t>
            </a:r>
          </a:p>
          <a:p>
            <a:pPr marL="0" indent="0">
              <a:buNone/>
            </a:pPr>
            <a:endParaRPr lang="en-US" dirty="0"/>
          </a:p>
          <a:p>
            <a:pPr marL="0" indent="0">
              <a:buNone/>
            </a:pPr>
            <a:r>
              <a:rPr lang="en-US" b="1" dirty="0"/>
              <a:t>Implication:</a:t>
            </a:r>
          </a:p>
          <a:p>
            <a:pPr marL="0" indent="0">
              <a:buNone/>
            </a:pPr>
            <a:r>
              <a:rPr lang="en-US" dirty="0"/>
              <a:t>Improve inventory planning during peak periods.</a:t>
            </a:r>
          </a:p>
        </p:txBody>
      </p:sp>
      <p:cxnSp>
        <p:nvCxnSpPr>
          <p:cNvPr id="16" name="Straight Connector 15">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0600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64B2A0-3AD3-27D4-CD52-17BDE6C2BA09}"/>
              </a:ext>
            </a:extLst>
          </p:cNvPr>
          <p:cNvSpPr>
            <a:spLocks noGrp="1"/>
          </p:cNvSpPr>
          <p:nvPr>
            <p:ph type="title"/>
          </p:nvPr>
        </p:nvSpPr>
        <p:spPr>
          <a:xfrm>
            <a:off x="5248656" y="914400"/>
            <a:ext cx="6236208" cy="1307592"/>
          </a:xfrm>
        </p:spPr>
        <p:txBody>
          <a:bodyPr>
            <a:normAutofit/>
          </a:bodyPr>
          <a:lstStyle/>
          <a:p>
            <a:pPr>
              <a:lnSpc>
                <a:spcPct val="90000"/>
              </a:lnSpc>
            </a:pPr>
            <a:r>
              <a:rPr lang="en-NG"/>
              <a:t>Business recemmendation</a:t>
            </a:r>
          </a:p>
        </p:txBody>
      </p:sp>
      <p:pic>
        <p:nvPicPr>
          <p:cNvPr id="5" name="Picture 4" descr="Desk with productivity items">
            <a:extLst>
              <a:ext uri="{FF2B5EF4-FFF2-40B4-BE49-F238E27FC236}">
                <a16:creationId xmlns:a16="http://schemas.microsoft.com/office/drawing/2014/main" id="{DC75BDBC-0C29-FC46-3054-F0FF545F48B6}"/>
              </a:ext>
            </a:extLst>
          </p:cNvPr>
          <p:cNvPicPr>
            <a:picLocks noChangeAspect="1"/>
          </p:cNvPicPr>
          <p:nvPr/>
        </p:nvPicPr>
        <p:blipFill>
          <a:blip r:embed="rId2"/>
          <a:srcRect l="34930" r="19680" b="-2"/>
          <a:stretch>
            <a:fillRect/>
          </a:stretch>
        </p:blipFill>
        <p:spPr>
          <a:xfrm>
            <a:off x="20" y="-1"/>
            <a:ext cx="4663420" cy="6858001"/>
          </a:xfrm>
          <a:prstGeom prst="rect">
            <a:avLst/>
          </a:prstGeom>
        </p:spPr>
      </p:pic>
      <p:cxnSp>
        <p:nvCxnSpPr>
          <p:cNvPr id="11"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46871"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1EE31B3-8E98-C298-F201-1E1F5D4B69BF}"/>
              </a:ext>
            </a:extLst>
          </p:cNvPr>
          <p:cNvSpPr>
            <a:spLocks noGrp="1"/>
          </p:cNvSpPr>
          <p:nvPr>
            <p:ph idx="1"/>
          </p:nvPr>
        </p:nvSpPr>
        <p:spPr>
          <a:xfrm>
            <a:off x="5248656" y="2221991"/>
            <a:ext cx="6236208" cy="4206517"/>
          </a:xfrm>
        </p:spPr>
        <p:txBody>
          <a:bodyPr>
            <a:noAutofit/>
          </a:bodyPr>
          <a:lstStyle/>
          <a:p>
            <a:pPr marL="457200" indent="-457200">
              <a:lnSpc>
                <a:spcPct val="100000"/>
              </a:lnSpc>
              <a:buAutoNum type="arabicPeriod"/>
            </a:pPr>
            <a:r>
              <a:rPr lang="en-NG" sz="1600" dirty="0"/>
              <a:t>Strengthen high-value product strategy</a:t>
            </a:r>
            <a:br>
              <a:rPr lang="en-NG" sz="1600" dirty="0"/>
            </a:br>
            <a:r>
              <a:rPr lang="en-NG" sz="1600" dirty="0"/>
              <a:t>	- Secure supplier contracts</a:t>
            </a:r>
            <a:br>
              <a:rPr lang="en-NG" sz="1600" dirty="0"/>
            </a:br>
            <a:r>
              <a:rPr lang="en-NG" sz="1600" dirty="0"/>
              <a:t>	- Offer warranties, service bundles</a:t>
            </a:r>
          </a:p>
          <a:p>
            <a:pPr marL="457200" indent="-457200">
              <a:lnSpc>
                <a:spcPct val="100000"/>
              </a:lnSpc>
              <a:buAutoNum type="arabicPeriod"/>
            </a:pPr>
            <a:r>
              <a:rPr lang="en-NG" sz="1600" dirty="0"/>
              <a:t>Expand mid-tier product ranges</a:t>
            </a:r>
            <a:br>
              <a:rPr lang="en-NG" sz="1600" dirty="0"/>
            </a:br>
            <a:r>
              <a:rPr lang="en-NG" sz="1600" dirty="0"/>
              <a:t>	- Highest growth opportunity with moderate pricing</a:t>
            </a:r>
          </a:p>
          <a:p>
            <a:pPr marL="457200" indent="-457200">
              <a:lnSpc>
                <a:spcPct val="100000"/>
              </a:lnSpc>
              <a:buAutoNum type="arabicPeriod"/>
            </a:pPr>
            <a:r>
              <a:rPr lang="en-NG" sz="1600" dirty="0"/>
              <a:t>Reduce category dependency</a:t>
            </a:r>
          </a:p>
          <a:p>
            <a:pPr marL="0" indent="0">
              <a:lnSpc>
                <a:spcPct val="100000"/>
              </a:lnSpc>
              <a:buNone/>
            </a:pPr>
            <a:r>
              <a:rPr lang="en-NG" sz="1600" dirty="0"/>
              <a:t>	- Invest in Technology and Fruniture product expansion</a:t>
            </a:r>
          </a:p>
          <a:p>
            <a:pPr marL="0" indent="0">
              <a:lnSpc>
                <a:spcPct val="100000"/>
              </a:lnSpc>
              <a:buNone/>
            </a:pPr>
            <a:r>
              <a:rPr lang="en-NG" sz="1600" dirty="0"/>
              <a:t>4. Develop customer-based initiatives</a:t>
            </a:r>
          </a:p>
          <a:p>
            <a:pPr marL="0" indent="0">
              <a:lnSpc>
                <a:spcPct val="100000"/>
              </a:lnSpc>
              <a:buNone/>
            </a:pPr>
            <a:r>
              <a:rPr lang="en-NG" sz="1600" dirty="0"/>
              <a:t>	- Loyalty programs</a:t>
            </a:r>
          </a:p>
          <a:p>
            <a:pPr marL="0" indent="0">
              <a:lnSpc>
                <a:spcPct val="100000"/>
              </a:lnSpc>
              <a:buNone/>
            </a:pPr>
            <a:r>
              <a:rPr lang="en-NG" sz="1600" dirty="0"/>
              <a:t>	- Segmented promotions (Sydney-focused)</a:t>
            </a:r>
          </a:p>
          <a:p>
            <a:pPr marL="0" indent="0">
              <a:lnSpc>
                <a:spcPct val="100000"/>
              </a:lnSpc>
              <a:buNone/>
            </a:pPr>
            <a:r>
              <a:rPr lang="en-NG" sz="1600" dirty="0"/>
              <a:t>5. Leverage seasonal demand</a:t>
            </a:r>
          </a:p>
          <a:p>
            <a:pPr marL="0" indent="0">
              <a:lnSpc>
                <a:spcPct val="100000"/>
              </a:lnSpc>
              <a:buNone/>
            </a:pPr>
            <a:r>
              <a:rPr lang="en-NG" sz="1600" dirty="0"/>
              <a:t>	-Mid-year promotional campaingns</a:t>
            </a:r>
          </a:p>
        </p:txBody>
      </p:sp>
    </p:spTree>
    <p:extLst>
      <p:ext uri="{BB962C8B-B14F-4D97-AF65-F5344CB8AC3E}">
        <p14:creationId xmlns:p14="http://schemas.microsoft.com/office/powerpoint/2010/main" val="3207259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053A1A-2EEB-1F88-1F36-2F84D5A922A9}"/>
              </a:ext>
            </a:extLst>
          </p:cNvPr>
          <p:cNvSpPr>
            <a:spLocks noGrp="1"/>
          </p:cNvSpPr>
          <p:nvPr>
            <p:ph type="title"/>
          </p:nvPr>
        </p:nvSpPr>
        <p:spPr>
          <a:xfrm>
            <a:off x="704088" y="914400"/>
            <a:ext cx="6001512" cy="1307592"/>
          </a:xfrm>
        </p:spPr>
        <p:txBody>
          <a:bodyPr>
            <a:normAutofit/>
          </a:bodyPr>
          <a:lstStyle/>
          <a:p>
            <a:r>
              <a:rPr lang="en-NG" dirty="0"/>
              <a:t>Conclusion</a:t>
            </a:r>
          </a:p>
        </p:txBody>
      </p:sp>
      <p:cxnSp>
        <p:nvCxnSpPr>
          <p:cNvPr id="12" name="Straight Connector 11">
            <a:extLst>
              <a:ext uri="{FF2B5EF4-FFF2-40B4-BE49-F238E27FC236}">
                <a16:creationId xmlns:a16="http://schemas.microsoft.com/office/drawing/2014/main" id="{4583FD9E-C5A7-96F7-951D-7D292013C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8B6DC7-3B26-928D-B4A7-9567ACC8C2BF}"/>
              </a:ext>
            </a:extLst>
          </p:cNvPr>
          <p:cNvSpPr>
            <a:spLocks noGrp="1"/>
          </p:cNvSpPr>
          <p:nvPr>
            <p:ph idx="1"/>
          </p:nvPr>
        </p:nvSpPr>
        <p:spPr>
          <a:xfrm>
            <a:off x="704088" y="2231136"/>
            <a:ext cx="6001512" cy="3931920"/>
          </a:xfrm>
        </p:spPr>
        <p:txBody>
          <a:bodyPr>
            <a:normAutofit/>
          </a:bodyPr>
          <a:lstStyle/>
          <a:p>
            <a:pPr marL="0" indent="0">
              <a:buNone/>
            </a:pPr>
            <a:r>
              <a:rPr lang="en-NG" dirty="0"/>
              <a:t>The analysis discovered high dependency on high-quality products, categories and cities. With proper strategies such as diversivying product categories, price-tiers,  promotions in certain locations, and targeting high-value customers, the business can stabilize revenue and unlock new growth opportunities.</a:t>
            </a:r>
          </a:p>
        </p:txBody>
      </p:sp>
      <p:pic>
        <p:nvPicPr>
          <p:cNvPr id="7" name="Graphic 6" descr="City">
            <a:extLst>
              <a:ext uri="{FF2B5EF4-FFF2-40B4-BE49-F238E27FC236}">
                <a16:creationId xmlns:a16="http://schemas.microsoft.com/office/drawing/2014/main" id="{E8AE38D0-CC80-500C-2D6E-A9DFEB2C2C0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74560" y="1951854"/>
            <a:ext cx="4202057" cy="4202057"/>
          </a:xfrm>
          <a:prstGeom prst="rect">
            <a:avLst/>
          </a:prstGeom>
        </p:spPr>
      </p:pic>
    </p:spTree>
    <p:extLst>
      <p:ext uri="{BB962C8B-B14F-4D97-AF65-F5344CB8AC3E}">
        <p14:creationId xmlns:p14="http://schemas.microsoft.com/office/powerpoint/2010/main" val="3145153737"/>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675</TotalTime>
  <Words>662</Words>
  <Application>Microsoft Macintosh PowerPoint</Application>
  <PresentationFormat>Widescreen</PresentationFormat>
  <Paragraphs>83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Calisto MT</vt:lpstr>
      <vt:lpstr>Univers Condensed</vt:lpstr>
      <vt:lpstr>ChronicleVTI</vt:lpstr>
      <vt:lpstr>Sales Insights &amp; Revenue Drivers Dashboard</vt:lpstr>
      <vt:lpstr>Executive summary</vt:lpstr>
      <vt:lpstr>Dataset and methodology</vt:lpstr>
      <vt:lpstr>PowerPoint Presentation</vt:lpstr>
      <vt:lpstr>Kpi overview (page 1)</vt:lpstr>
      <vt:lpstr>Revenue by category</vt:lpstr>
      <vt:lpstr>Top product analysis</vt:lpstr>
      <vt:lpstr>Revenue by price range</vt:lpstr>
      <vt:lpstr>Customer insights</vt:lpstr>
      <vt:lpstr>Monthly trend analysis</vt:lpstr>
      <vt:lpstr>Business recemmendation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Chukwudi Emmanuel Ekweani</dc:creator>
  <cp:lastModifiedBy>Chukwudi Emmanuel Ekweani</cp:lastModifiedBy>
  <cp:revision>5</cp:revision>
  <dcterms:created xsi:type="dcterms:W3CDTF">2025-12-09T08:09:05Z</dcterms:created>
  <dcterms:modified xsi:type="dcterms:W3CDTF">2025-12-10T18:00:46Z</dcterms:modified>
</cp:coreProperties>
</file>